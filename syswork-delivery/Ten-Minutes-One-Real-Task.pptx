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Morning. Ten minutes, one bug. I'm not going to demo a tool — I'm going to walk you through one task end to end, because the interesting part isn't that the agent fixed it. The interesting part is what we found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Here's the bug. We refund a customer a hundred dollars. Their card gets a hundred dollars. Our books record ninety-nine ninety-nine.
One cent — and it isn't one order. August came up four hundred and three dollars short across forty thousand refunds. Almost exactly a penny each, always in the same direction.
The customer never notices. Finance notices every month, because reconciliation is the one process where a cent and a million dollars are equally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[1:20-2:05]
Quick sanity check on why nobody caught this for years.
Fifty, thirty, twenty. Divides cleanly, sums exactly, looks perfect. That's the example somebody wrote into the test file.
Three tens is the one that breaks, and you only hit it when the division leaves a remainder — which across a real order book is most of them, but never the one you check by hand.
So the suite was green the whole time. Hold onto that, because it happens again later in this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[2:05-3:00]
Before any code — this is the part I'd actually argue is the point.
This file was in the repository before the ticket existed. Money is whole cents. The parts must equal the total, and that one has no tolerance at all. The public API is frozen because production calls it. Every change ships with a test that failed first. And my favourite: say what you didn't check, because silence reads as coverage.
I didn't type that into a chat box. It's committed, it's reviewed, and it binds me as much as the agent. That's the difference between steering and hoping.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[3:00-3:50]
First thing that happened: a failing test, before any fix existed.
Assert nine thousand nine hundred ninety-nine equals ten thousand. Those are cents — that's our penny, stated by a machine instead of by a person in a ticket.
And this is the habit I'd push hardest. Make it prove the bug first. Otherwise you're reviewing a change with no way to tell a real fix from something that merely looks reasonable — and looking reasonable is precisely what these models are best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[3:50-5:00]
Here's what came back. Three things.
Each line gets the whole number of cents its share definitely earns — 3,333 each, which uses 9,999 of our 10,000. Count what's left. One cent. Hand it to the line with the largest discarded fraction. The total is now exact because of how it's built, not because the rounding happened to land.
Third one I'd have got wrong myself: it's integer arithmetic throughout. Decimal is gone, every rounding mode is gone. You can't pick the wrong rounding mode if you never round.
And the public API never moved — same signature across all three commits, because the brief said production callers were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[5:00-5:55]
Tests green. Twenty of them. And the interesting one is the property test.
A normal test checks one example you thought of. A property states a rule that has to hold for every input — whatever the refund, whatever the lines, the parts sum to the total — and then the library spends the run inventing inputs to try to break it. Five hundred generated cases, zero failures.
In the browser, a hundred of a hundred. Ticket closed. By every signal available, we're done.
Except that property is true and it is not enough, and the next ninety seconds are the actual reason I'm up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[5:55-7:05]
Someone read the diff and asked what none of the tests asked: does each line get the same share regardless of what order the lines arrive in?
It doesn't. The leftover cent follows whichever line goes first. Same three lines, same refund, reordered — a different item owns the penny.
Now look at the sums. Correct both times. So the property could never have caught this, because it checked the total, and the total was never wrong.
And it matters for us specifically. Billing reads lines in whatever order the database returns. Reconciliation sorts by line ID. Two systems, same refund, disagreeing about which item owns the cent — while both report a perfect total. We'd have fixed the headline number and introduced a subtler version of the same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[7:05-7:45]
This is the sentence I'd like you to leave with. The tests proved the invariant we thought to write down. Review found the one we didn't.
That is not an argument against working this way. Once somebody asked the right question, the agent wrote the property that catches it and the fix that satisfies it in about two minutes — three lines of logic, break ties on the line's own ID rather than its position in a list. Twenty-three tests, both properties green.
It's an argument about where your attention is worth spending. The agent is fast at the part you can specify. You are still the only one who notices what nobody 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[7:45-8:15]
Two quick disclosures, because I'd rather you hear them from me.
First: that review was done by the same agent on a second pass, told to attack its own work. The finding is real — you watched it reproduce — but a model checking its own homework is not a colleague checking it, and the write-up says exactly that at the top.
Second: three and a half minutes to a fix is one task, off commit timestamps. It's the mechanical part only, it contains no human review time, and one task is an anecdote. Take the shape of it, not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[8:15-9:00]
So what do you do with this.
Don't start with "use the agent more." Start with one shape of task: a bug that already has a reproduction, in one module, where fixed is something a test can assert. That's where this is safe and the result is checkable.
Three habits, in order of importance. Write the constraints down before you prompt — in the repo, not the chat box. Make it prove the bug first. Then review the diff for the invariant nobody wrote down.
Not for: open-ended refactors, public contracts, or anything where you can't say what correct means before you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[9:00-9:30]
Ownership, briefly, because a plan without names is a wish.
The repo maintainer keeps the brief honest. Agent diffs get reviewed by the same people to the same standard — no separate track. One person spends half an hour a month pulling the numbers and publishes them unedited, including the bad ones. The engineering lead owns the decision to stop.
Three checkpoints. A week out, an open hour — bring your diff whether it worked or not, the failures are the useful half. A month out, we read the first ten together. Ninety days, we widen, hold, or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[9:30-9:50]
Two tables, kept apart on purpose.
Left is what we measured, on one task. Three and a half minutes. Fourteen tests to twenty-three, and both new ones failed before they passed. One blocking review finding the tests couldn't see.
Right is what we'd need over a quarter, and none of it has a value yet. The one that matters is the first: escaped defects on agent diffs against our existing rate. Low adoption is a process problem you can fix. A rising defect rate is a stop signal — and the honest response to a stop signal is to stop, not to review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[9:50-10:00]
So the claim I'm making is narrower than the hype. For a bounded task with a written definition of correct, you get a reviewable, tested change fast enough that review becomes the bottleneck — which means the leverage sits in what you write down beforehand and what you look for afterwards.
All of it ships together, including the run where it was wrong.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02920" y="1051560"/>
            <a:ext cx="585216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Ten minutes,</a:t>
            </a:r>
            <a:endParaRPr lang="en-US" sz="4200" dirty="0"/>
          </a:p>
          <a:p>
            <a:pPr indent="0" marL="0">
              <a:lnSpc>
                <a:spcPts val="4600"/>
              </a:lnSpc>
              <a:buNone/>
            </a:pPr>
            <a:r>
              <a:rPr lang="en-US" sz="4200" b="1" dirty="0">
                <a:solidFill>
                  <a:srgbClr val="FFFFFF"/>
                </a:solidFill>
                <a:latin typeface="Cambria" pitchFamily="34" charset="0"/>
                <a:ea typeface="Cambria" pitchFamily="34" charset="-122"/>
                <a:cs typeface="Cambria" pitchFamily="34" charset="-120"/>
              </a:rPr>
              <a:t>one real task</a:t>
            </a:r>
            <a:endParaRPr lang="en-US" sz="4200" dirty="0"/>
          </a:p>
        </p:txBody>
      </p:sp>
      <p:sp>
        <p:nvSpPr>
          <p:cNvPr id="3" name="Text 1"/>
          <p:cNvSpPr txBox="1"/>
          <p:nvPr/>
        </p:nvSpPr>
        <p:spPr>
          <a:xfrm>
            <a:off x="502920" y="2880360"/>
            <a:ext cx="5669280" cy="731520"/>
          </a:xfrm>
          <a:prstGeom prst="rect">
            <a:avLst/>
          </a:prstGeom>
          <a:noFill/>
          <a:ln/>
        </p:spPr>
        <p:txBody>
          <a:bodyPr wrap="square" lIns="0" tIns="0" rIns="0" bIns="0" rtlCol="0" anchor="ctr"/>
          <a:lstStyle/>
          <a:p>
            <a:pPr indent="0" marL="0">
              <a:lnSpc>
                <a:spcPts val="2000"/>
              </a:lnSpc>
              <a:buNone/>
            </a:pPr>
            <a:r>
              <a:rPr lang="en-US" sz="1400" dirty="0">
                <a:solidFill>
                  <a:srgbClr val="B9C2D0"/>
                </a:solidFill>
                <a:latin typeface="Calibri" pitchFamily="34" charset="0"/>
                <a:ea typeface="Calibri" pitchFamily="34" charset="-122"/>
                <a:cs typeface="Calibri" pitchFamily="34" charset="-120"/>
              </a:rPr>
              <a:t>What working with a coding agent actually looks like, followed all the way through one bug — including the part the tests got wrong.</a:t>
            </a:r>
            <a:endParaRPr lang="en-US" sz="1400" dirty="0"/>
          </a:p>
        </p:txBody>
      </p:sp>
      <p:sp>
        <p:nvSpPr>
          <p:cNvPr id="4" name="Shape 2"/>
          <p:cNvSpPr/>
          <p:nvPr/>
        </p:nvSpPr>
        <p:spPr>
          <a:xfrm>
            <a:off x="6492240" y="1280160"/>
            <a:ext cx="2148840" cy="1783080"/>
          </a:xfrm>
          <a:prstGeom prst="roundRect">
            <a:avLst>
              <a:gd name="adj" fmla="val 2564"/>
            </a:avLst>
          </a:prstGeom>
          <a:solidFill>
            <a:srgbClr val="1E2E4A"/>
          </a:solidFill>
          <a:ln w="12700">
            <a:solidFill>
              <a:srgbClr val="1E2E4A"/>
            </a:solidFill>
            <a:prstDash val="solid"/>
          </a:ln>
        </p:spPr>
      </p:sp>
      <p:sp>
        <p:nvSpPr>
          <p:cNvPr id="5" name="Text 3"/>
          <p:cNvSpPr txBox="1"/>
          <p:nvPr/>
        </p:nvSpPr>
        <p:spPr>
          <a:xfrm>
            <a:off x="6693408" y="1426464"/>
            <a:ext cx="1746504" cy="1490472"/>
          </a:xfrm>
          <a:prstGeom prst="rect">
            <a:avLst/>
          </a:prstGeom>
          <a:noFill/>
          <a:ln/>
        </p:spPr>
        <p:txBody>
          <a:bodyPr wrap="square" lIns="0" tIns="0" rIns="0" bIns="0" rtlCol="0" anchor="t"/>
          <a:lstStyle/>
          <a:p>
            <a:pPr algn="l" indent="0" marL="0">
              <a:lnSpc>
                <a:spcPts val="2000"/>
              </a:lnSpc>
              <a:buNone/>
            </a:pPr>
            <a:r>
              <a:rPr lang="en-US" sz="1400" dirty="0">
                <a:solidFill>
                  <a:srgbClr val="F2A9A2"/>
                </a:solidFill>
                <a:latin typeface="Courier New" pitchFamily="34" charset="0"/>
                <a:ea typeface="Courier New" pitchFamily="34" charset="-122"/>
                <a:cs typeface="Courier New" pitchFamily="34" charset="-120"/>
              </a:rPr>
              <a:t>$33.33</a:t>
            </a:r>
            <a:endParaRPr lang="en-US" sz="1400" dirty="0"/>
          </a:p>
          <a:p>
            <a:pPr algn="l" indent="0" marL="0">
              <a:lnSpc>
                <a:spcPts val="2000"/>
              </a:lnSpc>
              <a:buNone/>
            </a:pPr>
            <a:r>
              <a:rPr lang="en-US" sz="1400" dirty="0">
                <a:solidFill>
                  <a:srgbClr val="F2A9A2"/>
                </a:solidFill>
                <a:latin typeface="Courier New" pitchFamily="34" charset="0"/>
                <a:ea typeface="Courier New" pitchFamily="34" charset="-122"/>
                <a:cs typeface="Courier New" pitchFamily="34" charset="-120"/>
              </a:rPr>
              <a:t>$33.33</a:t>
            </a:r>
            <a:endParaRPr lang="en-US" sz="1400" dirty="0"/>
          </a:p>
          <a:p>
            <a:pPr algn="l" indent="0" marL="0">
              <a:lnSpc>
                <a:spcPts val="2000"/>
              </a:lnSpc>
              <a:buNone/>
            </a:pPr>
            <a:r>
              <a:rPr lang="en-US" sz="1400" dirty="0">
                <a:solidFill>
                  <a:srgbClr val="F2A9A2"/>
                </a:solidFill>
                <a:latin typeface="Courier New" pitchFamily="34" charset="0"/>
                <a:ea typeface="Courier New" pitchFamily="34" charset="-122"/>
                <a:cs typeface="Courier New" pitchFamily="34" charset="-120"/>
              </a:rPr>
              <a:t>$33.33</a:t>
            </a:r>
            <a:endParaRPr lang="en-US" sz="1400" dirty="0"/>
          </a:p>
          <a:p>
            <a:pPr algn="l" indent="0" marL="0">
              <a:lnSpc>
                <a:spcPts val="2000"/>
              </a:lnSpc>
              <a:buNone/>
            </a:pPr>
            <a:r>
              <a:rPr lang="en-US" sz="1400" dirty="0">
                <a:solidFill>
                  <a:srgbClr val="F2A9A2"/>
                </a:solidFill>
                <a:latin typeface="Courier New" pitchFamily="34" charset="0"/>
                <a:ea typeface="Courier New" pitchFamily="34" charset="-122"/>
                <a:cs typeface="Courier New" pitchFamily="34" charset="-120"/>
              </a:rPr>
              <a:t>──────</a:t>
            </a:r>
            <a:endParaRPr lang="en-US" sz="1400" dirty="0"/>
          </a:p>
          <a:p>
            <a:pPr algn="l" indent="0" marL="0">
              <a:lnSpc>
                <a:spcPts val="2000"/>
              </a:lnSpc>
              <a:buNone/>
            </a:pPr>
            <a:r>
              <a:rPr lang="en-US" sz="1400" dirty="0">
                <a:solidFill>
                  <a:srgbClr val="F2A9A2"/>
                </a:solidFill>
                <a:latin typeface="Courier New" pitchFamily="34" charset="0"/>
                <a:ea typeface="Courier New" pitchFamily="34" charset="-122"/>
                <a:cs typeface="Courier New" pitchFamily="34" charset="-120"/>
              </a:rPr>
              <a:t>$99.99</a:t>
            </a:r>
            <a:endParaRPr lang="en-US" sz="1400" dirty="0"/>
          </a:p>
        </p:txBody>
      </p:sp>
      <p:sp>
        <p:nvSpPr>
          <p:cNvPr id="6" name="Text 4"/>
          <p:cNvSpPr txBox="1"/>
          <p:nvPr/>
        </p:nvSpPr>
        <p:spPr>
          <a:xfrm>
            <a:off x="502920" y="4069080"/>
            <a:ext cx="3657600" cy="274320"/>
          </a:xfrm>
          <a:prstGeom prst="rect">
            <a:avLst/>
          </a:prstGeom>
          <a:noFill/>
          <a:ln/>
        </p:spPr>
        <p:txBody>
          <a:bodyPr wrap="square" lIns="0" tIns="0" rIns="0" bIns="0" rtlCol="0" anchor="ctr"/>
          <a:lstStyle/>
          <a:p>
            <a:pPr indent="0" marL="0">
              <a:buNone/>
            </a:pPr>
            <a:r>
              <a:rPr lang="en-US" sz="1150" dirty="0">
                <a:solidFill>
                  <a:srgbClr val="7C8AA0"/>
                </a:solidFill>
                <a:latin typeface="Calibri" pitchFamily="34" charset="0"/>
                <a:ea typeface="Calibri" pitchFamily="34" charset="-122"/>
                <a:cs typeface="Calibri" pitchFamily="34" charset="-120"/>
              </a:rPr>
              <a:t>Vibhu Gupta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9B2019"/>
                </a:solidFill>
                <a:latin typeface="Calibri" pitchFamily="34" charset="0"/>
                <a:ea typeface="Calibri" pitchFamily="34" charset="-122"/>
                <a:cs typeface="Calibri" pitchFamily="34" charset="-120"/>
              </a:rPr>
              <a:t>THE TASK</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A $100 refund. $99.99 on the books.</a:t>
            </a:r>
            <a:endParaRPr lang="en-US" sz="3000" dirty="0"/>
          </a:p>
        </p:txBody>
      </p:sp>
      <p:pic>
        <p:nvPicPr>
          <p:cNvPr id="4" name="Image 0" descr="/tmp/badge-before.png">    </p:cNvPr>
          <p:cNvPicPr>
            <a:picLocks noChangeAspect="1"/>
          </p:cNvPicPr>
          <p:nvPr/>
        </p:nvPicPr>
        <p:blipFill>
          <a:blip r:embed="rId1"/>
          <a:stretch>
            <a:fillRect/>
          </a:stretch>
        </p:blipFill>
        <p:spPr>
          <a:xfrm>
            <a:off x="502920" y="1234440"/>
            <a:ext cx="5577840" cy="969264"/>
          </a:xfrm>
          <a:prstGeom prst="rect">
            <a:avLst/>
          </a:prstGeom>
        </p:spPr>
      </p:pic>
      <p:sp>
        <p:nvSpPr>
          <p:cNvPr id="5" name="Text 2"/>
          <p:cNvSpPr txBox="1"/>
          <p:nvPr/>
        </p:nvSpPr>
        <p:spPr>
          <a:xfrm>
            <a:off x="502920" y="2377440"/>
            <a:ext cx="5577840" cy="1097280"/>
          </a:xfrm>
          <a:prstGeom prst="rect">
            <a:avLst/>
          </a:prstGeom>
          <a:noFill/>
          <a:ln/>
        </p:spPr>
        <p:txBody>
          <a:bodyPr wrap="square" lIns="0" tIns="0" rIns="0" bIns="0" rtlCol="0" anchor="ctr"/>
          <a:lstStyle/>
          <a:p>
            <a:pPr indent="0" marL="0">
              <a:lnSpc>
                <a:spcPts val="1900"/>
              </a:lnSpc>
              <a:buNone/>
            </a:pPr>
            <a:r>
              <a:rPr lang="en-US" sz="1350" dirty="0">
                <a:solidFill>
                  <a:srgbClr val="2A3340"/>
                </a:solidFill>
                <a:latin typeface="Calibri" pitchFamily="34" charset="0"/>
                <a:ea typeface="Calibri" pitchFamily="34" charset="-122"/>
                <a:cs typeface="Calibri" pitchFamily="34" charset="-120"/>
              </a:rPr>
              <a:t>Our refund service splits a refund across the items on the order, so finance can put a number against each line. Three items, ten dollars each, a hundred-dollar refund — and the pieces add up to a penny less than we actually paid out.</a:t>
            </a:r>
            <a:endParaRPr lang="en-US" sz="1350" dirty="0"/>
          </a:p>
        </p:txBody>
      </p:sp>
      <p:sp>
        <p:nvSpPr>
          <p:cNvPr id="6" name="Shape 3"/>
          <p:cNvSpPr/>
          <p:nvPr/>
        </p:nvSpPr>
        <p:spPr>
          <a:xfrm>
            <a:off x="6355080" y="1234440"/>
            <a:ext cx="2286000" cy="1024128"/>
          </a:xfrm>
          <a:prstGeom prst="roundRect">
            <a:avLst>
              <a:gd name="adj" fmla="val 5357"/>
            </a:avLst>
          </a:prstGeom>
          <a:solidFill>
            <a:srgbClr val="FBEAE8"/>
          </a:solidFill>
          <a:ln w="12700">
            <a:solidFill>
              <a:srgbClr val="FBEAE8"/>
            </a:solidFill>
            <a:prstDash val="solid"/>
          </a:ln>
        </p:spPr>
      </p:sp>
      <p:sp>
        <p:nvSpPr>
          <p:cNvPr id="7" name="Text 4"/>
          <p:cNvSpPr txBox="1"/>
          <p:nvPr/>
        </p:nvSpPr>
        <p:spPr>
          <a:xfrm>
            <a:off x="6501384" y="1344168"/>
            <a:ext cx="1993392" cy="512064"/>
          </a:xfrm>
          <a:prstGeom prst="rect">
            <a:avLst/>
          </a:prstGeom>
          <a:noFill/>
          <a:ln/>
        </p:spPr>
        <p:txBody>
          <a:bodyPr wrap="square" lIns="0" tIns="0" rIns="0" bIns="0" rtlCol="0" anchor="ctr"/>
          <a:lstStyle/>
          <a:p>
            <a:pPr indent="0" marL="0">
              <a:buNone/>
            </a:pPr>
            <a:r>
              <a:rPr lang="en-US" sz="2800" b="1" dirty="0">
                <a:solidFill>
                  <a:srgbClr val="9B2019"/>
                </a:solidFill>
                <a:latin typeface="Cambria" pitchFamily="34" charset="0"/>
                <a:ea typeface="Cambria" pitchFamily="34" charset="-122"/>
                <a:cs typeface="Cambria" pitchFamily="34" charset="-120"/>
              </a:rPr>
              <a:t>$403.61</a:t>
            </a:r>
            <a:endParaRPr lang="en-US" sz="2800" dirty="0"/>
          </a:p>
        </p:txBody>
      </p:sp>
      <p:sp>
        <p:nvSpPr>
          <p:cNvPr id="8" name="Text 5"/>
          <p:cNvSpPr txBox="1"/>
          <p:nvPr/>
        </p:nvSpPr>
        <p:spPr>
          <a:xfrm>
            <a:off x="6501384" y="1837944"/>
            <a:ext cx="1993392" cy="329184"/>
          </a:xfrm>
          <a:prstGeom prst="rect">
            <a:avLst/>
          </a:prstGeom>
          <a:noFill/>
          <a:ln/>
        </p:spPr>
        <p:txBody>
          <a:bodyPr wrap="square" lIns="0" tIns="0" rIns="0" bIns="0" rtlCol="0" anchor="t"/>
          <a:lstStyle/>
          <a:p>
            <a:pPr indent="0" marL="0">
              <a:buNone/>
            </a:pPr>
            <a:r>
              <a:rPr lang="en-US" sz="1100" dirty="0">
                <a:solidFill>
                  <a:srgbClr val="7A3A34"/>
                </a:solidFill>
                <a:latin typeface="Calibri" pitchFamily="34" charset="0"/>
                <a:ea typeface="Calibri" pitchFamily="34" charset="-122"/>
                <a:cs typeface="Calibri" pitchFamily="34" charset="-120"/>
              </a:rPr>
              <a:t>short in August</a:t>
            </a:r>
            <a:endParaRPr lang="en-US" sz="1100" dirty="0"/>
          </a:p>
        </p:txBody>
      </p:sp>
      <p:sp>
        <p:nvSpPr>
          <p:cNvPr id="9" name="Shape 6"/>
          <p:cNvSpPr/>
          <p:nvPr/>
        </p:nvSpPr>
        <p:spPr>
          <a:xfrm>
            <a:off x="6355080" y="2395728"/>
            <a:ext cx="2286000" cy="1024128"/>
          </a:xfrm>
          <a:prstGeom prst="roundRect">
            <a:avLst>
              <a:gd name="adj" fmla="val 5357"/>
            </a:avLst>
          </a:prstGeom>
          <a:solidFill>
            <a:srgbClr val="F1F3F6"/>
          </a:solidFill>
          <a:ln w="12700">
            <a:solidFill>
              <a:srgbClr val="F1F3F6"/>
            </a:solidFill>
            <a:prstDash val="solid"/>
          </a:ln>
        </p:spPr>
      </p:sp>
      <p:sp>
        <p:nvSpPr>
          <p:cNvPr id="10" name="Text 7"/>
          <p:cNvSpPr txBox="1"/>
          <p:nvPr/>
        </p:nvSpPr>
        <p:spPr>
          <a:xfrm>
            <a:off x="6501384" y="2505456"/>
            <a:ext cx="1993392" cy="512064"/>
          </a:xfrm>
          <a:prstGeom prst="rect">
            <a:avLst/>
          </a:prstGeom>
          <a:noFill/>
          <a:ln/>
        </p:spPr>
        <p:txBody>
          <a:bodyPr wrap="square" lIns="0" tIns="0" rIns="0" bIns="0" rtlCol="0" anchor="ctr"/>
          <a:lstStyle/>
          <a:p>
            <a:pPr indent="0" marL="0">
              <a:buNone/>
            </a:pPr>
            <a:r>
              <a:rPr lang="en-US" sz="2800" b="1" dirty="0">
                <a:solidFill>
                  <a:srgbClr val="152238"/>
                </a:solidFill>
                <a:latin typeface="Cambria" pitchFamily="34" charset="0"/>
                <a:ea typeface="Cambria" pitchFamily="34" charset="-122"/>
                <a:cs typeface="Cambria" pitchFamily="34" charset="-120"/>
              </a:rPr>
              <a:t>40,361</a:t>
            </a:r>
            <a:endParaRPr lang="en-US" sz="2800" dirty="0"/>
          </a:p>
        </p:txBody>
      </p:sp>
      <p:sp>
        <p:nvSpPr>
          <p:cNvPr id="11" name="Text 8"/>
          <p:cNvSpPr txBox="1"/>
          <p:nvPr/>
        </p:nvSpPr>
        <p:spPr>
          <a:xfrm>
            <a:off x="6501384" y="2999232"/>
            <a:ext cx="1993392" cy="329184"/>
          </a:xfrm>
          <a:prstGeom prst="rect">
            <a:avLst/>
          </a:prstGeom>
          <a:noFill/>
          <a:ln/>
        </p:spPr>
        <p:txBody>
          <a:bodyPr wrap="square" lIns="0" tIns="0" rIns="0" bIns="0" rtlCol="0" anchor="t"/>
          <a:lstStyle/>
          <a:p>
            <a:pPr indent="0" marL="0">
              <a:buNone/>
            </a:pPr>
            <a:r>
              <a:rPr lang="en-US" sz="1100" dirty="0">
                <a:solidFill>
                  <a:srgbClr val="5A6470"/>
                </a:solidFill>
                <a:latin typeface="Calibri" pitchFamily="34" charset="0"/>
                <a:ea typeface="Calibri" pitchFamily="34" charset="-122"/>
                <a:cs typeface="Calibri" pitchFamily="34" charset="-120"/>
              </a:rPr>
              <a:t>refunds that month</a:t>
            </a:r>
            <a:endParaRPr lang="en-US" sz="1100" dirty="0"/>
          </a:p>
        </p:txBody>
      </p:sp>
      <p:sp>
        <p:nvSpPr>
          <p:cNvPr id="12" name="Shape 9"/>
          <p:cNvSpPr/>
          <p:nvPr/>
        </p:nvSpPr>
        <p:spPr>
          <a:xfrm>
            <a:off x="6355080" y="3557016"/>
            <a:ext cx="2286000" cy="1024128"/>
          </a:xfrm>
          <a:prstGeom prst="roundRect">
            <a:avLst>
              <a:gd name="adj" fmla="val 5357"/>
            </a:avLst>
          </a:prstGeom>
          <a:solidFill>
            <a:srgbClr val="F1F3F6"/>
          </a:solidFill>
          <a:ln w="12700">
            <a:solidFill>
              <a:srgbClr val="F1F3F6"/>
            </a:solidFill>
            <a:prstDash val="solid"/>
          </a:ln>
        </p:spPr>
      </p:sp>
      <p:sp>
        <p:nvSpPr>
          <p:cNvPr id="13" name="Text 10"/>
          <p:cNvSpPr txBox="1"/>
          <p:nvPr/>
        </p:nvSpPr>
        <p:spPr>
          <a:xfrm>
            <a:off x="6501384" y="3666744"/>
            <a:ext cx="1993392" cy="512064"/>
          </a:xfrm>
          <a:prstGeom prst="rect">
            <a:avLst/>
          </a:prstGeom>
          <a:noFill/>
          <a:ln/>
        </p:spPr>
        <p:txBody>
          <a:bodyPr wrap="square" lIns="0" tIns="0" rIns="0" bIns="0" rtlCol="0" anchor="ctr"/>
          <a:lstStyle/>
          <a:p>
            <a:pPr indent="0" marL="0">
              <a:buNone/>
            </a:pPr>
            <a:r>
              <a:rPr lang="en-US" sz="2800" b="1" dirty="0">
                <a:solidFill>
                  <a:srgbClr val="152238"/>
                </a:solidFill>
                <a:latin typeface="Cambria" pitchFamily="34" charset="0"/>
                <a:ea typeface="Cambria" pitchFamily="34" charset="-122"/>
                <a:cs typeface="Cambria" pitchFamily="34" charset="-120"/>
              </a:rPr>
              <a:t>1 cent</a:t>
            </a:r>
            <a:endParaRPr lang="en-US" sz="2800" dirty="0"/>
          </a:p>
        </p:txBody>
      </p:sp>
      <p:sp>
        <p:nvSpPr>
          <p:cNvPr id="14" name="Text 11"/>
          <p:cNvSpPr txBox="1"/>
          <p:nvPr/>
        </p:nvSpPr>
        <p:spPr>
          <a:xfrm>
            <a:off x="6501384" y="4160520"/>
            <a:ext cx="1993392" cy="329184"/>
          </a:xfrm>
          <a:prstGeom prst="rect">
            <a:avLst/>
          </a:prstGeom>
          <a:noFill/>
          <a:ln/>
        </p:spPr>
        <p:txBody>
          <a:bodyPr wrap="square" lIns="0" tIns="0" rIns="0" bIns="0" rtlCol="0" anchor="t"/>
          <a:lstStyle/>
          <a:p>
            <a:pPr indent="0" marL="0">
              <a:buNone/>
            </a:pPr>
            <a:r>
              <a:rPr lang="en-US" sz="1100" dirty="0">
                <a:solidFill>
                  <a:srgbClr val="5A6470"/>
                </a:solidFill>
                <a:latin typeface="Calibri" pitchFamily="34" charset="0"/>
                <a:ea typeface="Calibri" pitchFamily="34" charset="-122"/>
                <a:cs typeface="Calibri" pitchFamily="34" charset="-120"/>
              </a:rPr>
              <a:t>missing per refund</a:t>
            </a:r>
            <a:endParaRPr lang="en-US" sz="1100" dirty="0"/>
          </a:p>
        </p:txBody>
      </p:sp>
      <p:sp>
        <p:nvSpPr>
          <p:cNvPr id="15" name="Text 12"/>
          <p:cNvSpPr txBox="1"/>
          <p:nvPr/>
        </p:nvSpPr>
        <p:spPr>
          <a:xfrm>
            <a:off x="502920" y="3977640"/>
            <a:ext cx="5577840" cy="457200"/>
          </a:xfrm>
          <a:prstGeom prst="rect">
            <a:avLst/>
          </a:prstGeom>
          <a:noFill/>
          <a:ln/>
        </p:spPr>
        <p:txBody>
          <a:bodyPr wrap="square" lIns="0" tIns="0" rIns="0" bIns="0" rtlCol="0" anchor="ctr"/>
          <a:lstStyle/>
          <a:p>
            <a:pPr indent="0" marL="0">
              <a:lnSpc>
                <a:spcPts val="1800"/>
              </a:lnSpc>
              <a:buNone/>
            </a:pPr>
            <a:r>
              <a:rPr lang="en-US" sz="1300" b="1" i="1" dirty="0">
                <a:solidFill>
                  <a:srgbClr val="9B2019"/>
                </a:solidFill>
                <a:latin typeface="Calibri" pitchFamily="34" charset="0"/>
                <a:ea typeface="Calibri" pitchFamily="34" charset="-122"/>
                <a:cs typeface="Calibri" pitchFamily="34" charset="-120"/>
              </a:rPr>
              <a:t>The customer's card gets the full amount. The ledger doesn't agree. Reconciliation breaks.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5A6470"/>
                </a:solidFill>
                <a:latin typeface="Calibri" pitchFamily="34" charset="0"/>
                <a:ea typeface="Calibri" pitchFamily="34" charset="-122"/>
                <a:cs typeface="Calibri" pitchFamily="34" charset="-120"/>
              </a:rPr>
              <a:t>WHY IT SURVIVED</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The case you check by hand works</a:t>
            </a:r>
            <a:endParaRPr lang="en-US" sz="3000" dirty="0"/>
          </a:p>
        </p:txBody>
      </p:sp>
      <p:sp>
        <p:nvSpPr>
          <p:cNvPr id="4" name="Shape 2"/>
          <p:cNvSpPr/>
          <p:nvPr/>
        </p:nvSpPr>
        <p:spPr>
          <a:xfrm>
            <a:off x="502920" y="1325880"/>
            <a:ext cx="3931920" cy="1965960"/>
          </a:xfrm>
          <a:prstGeom prst="roundRect">
            <a:avLst>
              <a:gd name="adj" fmla="val 2791"/>
            </a:avLst>
          </a:prstGeom>
          <a:solidFill>
            <a:srgbClr val="E6F2EB"/>
          </a:solidFill>
          <a:ln w="12700">
            <a:solidFill>
              <a:srgbClr val="E6F2EB"/>
            </a:solidFill>
            <a:prstDash val="solid"/>
          </a:ln>
        </p:spPr>
      </p:sp>
      <p:sp>
        <p:nvSpPr>
          <p:cNvPr id="5" name="Text 3"/>
          <p:cNvSpPr txBox="1"/>
          <p:nvPr/>
        </p:nvSpPr>
        <p:spPr>
          <a:xfrm>
            <a:off x="731520" y="1463040"/>
            <a:ext cx="3474720" cy="274320"/>
          </a:xfrm>
          <a:prstGeom prst="rect">
            <a:avLst/>
          </a:prstGeom>
          <a:noFill/>
          <a:ln/>
        </p:spPr>
        <p:txBody>
          <a:bodyPr wrap="square" lIns="0" tIns="0" rIns="0" bIns="0" rtlCol="0" anchor="ctr"/>
          <a:lstStyle/>
          <a:p>
            <a:pPr indent="0" marL="0">
              <a:buNone/>
            </a:pPr>
            <a:r>
              <a:rPr lang="en-US" sz="1200" b="1" dirty="0">
                <a:solidFill>
                  <a:srgbClr val="17603A"/>
                </a:solidFill>
                <a:latin typeface="Calibri" pitchFamily="34" charset="0"/>
                <a:ea typeface="Calibri" pitchFamily="34" charset="-122"/>
                <a:cs typeface="Calibri" pitchFamily="34" charset="-120"/>
              </a:rPr>
              <a:t>Divides cleanly</a:t>
            </a:r>
            <a:endParaRPr lang="en-US" sz="1200" dirty="0"/>
          </a:p>
        </p:txBody>
      </p:sp>
      <p:sp>
        <p:nvSpPr>
          <p:cNvPr id="6" name="Text 4"/>
          <p:cNvSpPr txBox="1"/>
          <p:nvPr/>
        </p:nvSpPr>
        <p:spPr>
          <a:xfrm>
            <a:off x="731520" y="1828800"/>
            <a:ext cx="3474720" cy="731520"/>
          </a:xfrm>
          <a:prstGeom prst="rect">
            <a:avLst/>
          </a:prstGeom>
          <a:noFill/>
          <a:ln/>
        </p:spPr>
        <p:txBody>
          <a:bodyPr wrap="square" lIns="0" tIns="0" rIns="0" bIns="0" rtlCol="0" anchor="ctr"/>
          <a:lstStyle/>
          <a:p>
            <a:pPr indent="0" marL="0">
              <a:lnSpc>
                <a:spcPts val="2200"/>
              </a:lnSpc>
              <a:buNone/>
            </a:pPr>
            <a:r>
              <a:rPr lang="en-US" sz="1350" dirty="0">
                <a:solidFill>
                  <a:srgbClr val="1C3A2A"/>
                </a:solidFill>
                <a:latin typeface="Courier New" pitchFamily="34" charset="0"/>
                <a:ea typeface="Courier New" pitchFamily="34" charset="-122"/>
                <a:cs typeface="Courier New" pitchFamily="34" charset="-120"/>
              </a:rPr>
              <a:t>$50.00  +  $30.00  +  $20.00</a:t>
            </a:r>
            <a:endParaRPr lang="en-US" sz="1350" dirty="0"/>
          </a:p>
          <a:p>
            <a:pPr indent="0" marL="0">
              <a:lnSpc>
                <a:spcPts val="2200"/>
              </a:lnSpc>
              <a:buNone/>
            </a:pPr>
            <a:r>
              <a:rPr lang="en-US" sz="1350" dirty="0">
                <a:solidFill>
                  <a:srgbClr val="1C3A2A"/>
                </a:solidFill>
                <a:latin typeface="Courier New" pitchFamily="34" charset="0"/>
                <a:ea typeface="Courier New" pitchFamily="34" charset="-122"/>
                <a:cs typeface="Courier New" pitchFamily="34" charset="-120"/>
              </a:rPr>
              <a:t>=  $100.00</a:t>
            </a:r>
            <a:endParaRPr lang="en-US" sz="1350" dirty="0"/>
          </a:p>
        </p:txBody>
      </p:sp>
      <p:sp>
        <p:nvSpPr>
          <p:cNvPr id="7" name="Text 5"/>
          <p:cNvSpPr txBox="1"/>
          <p:nvPr/>
        </p:nvSpPr>
        <p:spPr>
          <a:xfrm>
            <a:off x="731520" y="2697480"/>
            <a:ext cx="3474720" cy="457200"/>
          </a:xfrm>
          <a:prstGeom prst="rect">
            <a:avLst/>
          </a:prstGeom>
          <a:noFill/>
          <a:ln/>
        </p:spPr>
        <p:txBody>
          <a:bodyPr wrap="square" lIns="0" tIns="0" rIns="0" bIns="0" rtlCol="0" anchor="ctr"/>
          <a:lstStyle/>
          <a:p>
            <a:pPr indent="0" marL="0">
              <a:buNone/>
            </a:pPr>
            <a:r>
              <a:rPr lang="en-US" sz="1150" dirty="0">
                <a:solidFill>
                  <a:srgbClr val="3D5648"/>
                </a:solidFill>
                <a:latin typeface="Calibri" pitchFamily="34" charset="0"/>
                <a:ea typeface="Calibri" pitchFamily="34" charset="-122"/>
                <a:cs typeface="Calibri" pitchFamily="34" charset="-120"/>
              </a:rPr>
              <a:t>Exact. Every number reconciles. Looks perfect.</a:t>
            </a:r>
            <a:endParaRPr lang="en-US" sz="1150" dirty="0"/>
          </a:p>
        </p:txBody>
      </p:sp>
      <p:sp>
        <p:nvSpPr>
          <p:cNvPr id="8" name="Shape 6"/>
          <p:cNvSpPr/>
          <p:nvPr/>
        </p:nvSpPr>
        <p:spPr>
          <a:xfrm>
            <a:off x="4709160" y="1325880"/>
            <a:ext cx="3931920" cy="1965960"/>
          </a:xfrm>
          <a:prstGeom prst="roundRect">
            <a:avLst>
              <a:gd name="adj" fmla="val 2791"/>
            </a:avLst>
          </a:prstGeom>
          <a:solidFill>
            <a:srgbClr val="FBEAE8"/>
          </a:solidFill>
          <a:ln w="12700">
            <a:solidFill>
              <a:srgbClr val="FBEAE8"/>
            </a:solidFill>
            <a:prstDash val="solid"/>
          </a:ln>
        </p:spPr>
      </p:sp>
      <p:sp>
        <p:nvSpPr>
          <p:cNvPr id="9" name="Text 7"/>
          <p:cNvSpPr txBox="1"/>
          <p:nvPr/>
        </p:nvSpPr>
        <p:spPr>
          <a:xfrm>
            <a:off x="4937760" y="1463040"/>
            <a:ext cx="3474720" cy="274320"/>
          </a:xfrm>
          <a:prstGeom prst="rect">
            <a:avLst/>
          </a:prstGeom>
          <a:noFill/>
          <a:ln/>
        </p:spPr>
        <p:txBody>
          <a:bodyPr wrap="square" lIns="0" tIns="0" rIns="0" bIns="0" rtlCol="0" anchor="ctr"/>
          <a:lstStyle/>
          <a:p>
            <a:pPr indent="0" marL="0">
              <a:buNone/>
            </a:pPr>
            <a:r>
              <a:rPr lang="en-US" sz="1200" b="1" dirty="0">
                <a:solidFill>
                  <a:srgbClr val="9B2019"/>
                </a:solidFill>
                <a:latin typeface="Calibri" pitchFamily="34" charset="0"/>
                <a:ea typeface="Calibri" pitchFamily="34" charset="-122"/>
                <a:cs typeface="Calibri" pitchFamily="34" charset="-120"/>
              </a:rPr>
              <a:t>Leaves a remainder</a:t>
            </a:r>
            <a:endParaRPr lang="en-US" sz="1200" dirty="0"/>
          </a:p>
        </p:txBody>
      </p:sp>
      <p:sp>
        <p:nvSpPr>
          <p:cNvPr id="10" name="Text 8"/>
          <p:cNvSpPr txBox="1"/>
          <p:nvPr/>
        </p:nvSpPr>
        <p:spPr>
          <a:xfrm>
            <a:off x="4937760" y="1828800"/>
            <a:ext cx="3474720" cy="731520"/>
          </a:xfrm>
          <a:prstGeom prst="rect">
            <a:avLst/>
          </a:prstGeom>
          <a:noFill/>
          <a:ln/>
        </p:spPr>
        <p:txBody>
          <a:bodyPr wrap="square" lIns="0" tIns="0" rIns="0" bIns="0" rtlCol="0" anchor="ctr"/>
          <a:lstStyle/>
          <a:p>
            <a:pPr indent="0" marL="0">
              <a:lnSpc>
                <a:spcPts val="2200"/>
              </a:lnSpc>
              <a:buNone/>
            </a:pPr>
            <a:r>
              <a:rPr lang="en-US" sz="1350" dirty="0">
                <a:solidFill>
                  <a:srgbClr val="5E1A15"/>
                </a:solidFill>
                <a:latin typeface="Courier New" pitchFamily="34" charset="0"/>
                <a:ea typeface="Courier New" pitchFamily="34" charset="-122"/>
                <a:cs typeface="Courier New" pitchFamily="34" charset="-120"/>
              </a:rPr>
              <a:t>$33.33  +  $33.33  +  $33.33</a:t>
            </a:r>
            <a:endParaRPr lang="en-US" sz="1350" dirty="0"/>
          </a:p>
          <a:p>
            <a:pPr indent="0" marL="0">
              <a:lnSpc>
                <a:spcPts val="2200"/>
              </a:lnSpc>
              <a:buNone/>
            </a:pPr>
            <a:r>
              <a:rPr lang="en-US" sz="1350" dirty="0">
                <a:solidFill>
                  <a:srgbClr val="5E1A15"/>
                </a:solidFill>
                <a:latin typeface="Courier New" pitchFamily="34" charset="0"/>
                <a:ea typeface="Courier New" pitchFamily="34" charset="-122"/>
                <a:cs typeface="Courier New" pitchFamily="34" charset="-120"/>
              </a:rPr>
              <a:t>=  $99.99</a:t>
            </a:r>
            <a:endParaRPr lang="en-US" sz="1350" dirty="0"/>
          </a:p>
        </p:txBody>
      </p:sp>
      <p:sp>
        <p:nvSpPr>
          <p:cNvPr id="11" name="Text 9"/>
          <p:cNvSpPr txBox="1"/>
          <p:nvPr/>
        </p:nvSpPr>
        <p:spPr>
          <a:xfrm>
            <a:off x="4937760" y="2697480"/>
            <a:ext cx="3474720" cy="457200"/>
          </a:xfrm>
          <a:prstGeom prst="rect">
            <a:avLst/>
          </a:prstGeom>
          <a:noFill/>
          <a:ln/>
        </p:spPr>
        <p:txBody>
          <a:bodyPr wrap="square" lIns="0" tIns="0" rIns="0" bIns="0" rtlCol="0" anchor="ctr"/>
          <a:lstStyle/>
          <a:p>
            <a:pPr indent="0" marL="0">
              <a:buNone/>
            </a:pPr>
            <a:r>
              <a:rPr lang="en-US" sz="1150" dirty="0">
                <a:solidFill>
                  <a:srgbClr val="7A3A34"/>
                </a:solidFill>
                <a:latin typeface="Calibri" pitchFamily="34" charset="0"/>
                <a:ea typeface="Calibri" pitchFamily="34" charset="-122"/>
                <a:cs typeface="Calibri" pitchFamily="34" charset="-120"/>
              </a:rPr>
              <a:t>A cent with nowhere to live. Rounding down three times never cancels out.</a:t>
            </a:r>
            <a:endParaRPr lang="en-US" sz="1150" dirty="0"/>
          </a:p>
        </p:txBody>
      </p:sp>
      <p:sp>
        <p:nvSpPr>
          <p:cNvPr id="12" name="Text 10"/>
          <p:cNvSpPr txBox="1"/>
          <p:nvPr/>
        </p:nvSpPr>
        <p:spPr>
          <a:xfrm>
            <a:off x="502920" y="3520440"/>
            <a:ext cx="8138160" cy="822960"/>
          </a:xfrm>
          <a:prstGeom prst="rect">
            <a:avLst/>
          </a:prstGeom>
          <a:noFill/>
          <a:ln/>
        </p:spPr>
        <p:txBody>
          <a:bodyPr wrap="square" lIns="0" tIns="0" rIns="0" bIns="0" rtlCol="0" anchor="ctr"/>
          <a:lstStyle/>
          <a:p>
            <a:pPr indent="0" marL="0">
              <a:lnSpc>
                <a:spcPts val="1900"/>
              </a:lnSpc>
              <a:buNone/>
            </a:pPr>
            <a:r>
              <a:rPr lang="en-US" sz="1350" dirty="0">
                <a:solidFill>
                  <a:srgbClr val="2A3340"/>
                </a:solidFill>
                <a:latin typeface="Calibri" pitchFamily="34" charset="0"/>
                <a:ea typeface="Calibri" pitchFamily="34" charset="-122"/>
                <a:cs typeface="Calibri" pitchFamily="34" charset="-120"/>
              </a:rPr>
              <a:t>Most orders divide cleanly, so the example anyone writes into a test is the one that passes. That's how a bug lives in a payment path for years with a green test suite sitting on top of it.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5A6470"/>
                </a:solidFill>
                <a:latin typeface="Calibri" pitchFamily="34" charset="0"/>
                <a:ea typeface="Calibri" pitchFamily="34" charset="-122"/>
                <a:cs typeface="Calibri" pitchFamily="34" charset="-120"/>
              </a:rPr>
              <a:t>SETUP</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The interesting part isn't the prompt</a:t>
            </a:r>
            <a:endParaRPr lang="en-US" sz="3000" dirty="0"/>
          </a:p>
        </p:txBody>
      </p:sp>
      <p:sp>
        <p:nvSpPr>
          <p:cNvPr id="4" name="Text 2"/>
          <p:cNvSpPr txBox="1"/>
          <p:nvPr/>
        </p:nvSpPr>
        <p:spPr>
          <a:xfrm>
            <a:off x="502920" y="1143000"/>
            <a:ext cx="8138160" cy="457200"/>
          </a:xfrm>
          <a:prstGeom prst="rect">
            <a:avLst/>
          </a:prstGeom>
          <a:noFill/>
          <a:ln/>
        </p:spPr>
        <p:txBody>
          <a:bodyPr wrap="square" lIns="0" tIns="0" rIns="0" bIns="0" rtlCol="0" anchor="ctr"/>
          <a:lstStyle/>
          <a:p>
            <a:pPr indent="0" marL="0">
              <a:lnSpc>
                <a:spcPts val="1900"/>
              </a:lnSpc>
              <a:buNone/>
            </a:pPr>
            <a:r>
              <a:rPr lang="en-US" sz="1350" dirty="0">
                <a:solidFill>
                  <a:srgbClr val="2A3340"/>
                </a:solidFill>
                <a:latin typeface="Calibri" pitchFamily="34" charset="0"/>
                <a:ea typeface="Calibri" pitchFamily="34" charset="-122"/>
                <a:cs typeface="Calibri" pitchFamily="34" charset="-120"/>
              </a:rPr>
              <a:t>Before the task existed, the repository already had a file called CLAUDE.md — the standing brief every change works under, agent or human.</a:t>
            </a:r>
            <a:endParaRPr lang="en-US" sz="1350" dirty="0"/>
          </a:p>
        </p:txBody>
      </p:sp>
      <p:sp>
        <p:nvSpPr>
          <p:cNvPr id="5" name="Shape 3"/>
          <p:cNvSpPr/>
          <p:nvPr/>
        </p:nvSpPr>
        <p:spPr>
          <a:xfrm>
            <a:off x="502920" y="1691640"/>
            <a:ext cx="310896" cy="310896"/>
          </a:xfrm>
          <a:prstGeom prst="ellipse">
            <a:avLst/>
          </a:prstGeom>
          <a:solidFill>
            <a:srgbClr val="152238"/>
          </a:solidFill>
          <a:ln w="12700">
            <a:solidFill>
              <a:srgbClr val="152238"/>
            </a:solidFill>
            <a:prstDash val="solid"/>
          </a:ln>
        </p:spPr>
      </p:sp>
      <p:sp>
        <p:nvSpPr>
          <p:cNvPr id="6" name="Text 4"/>
          <p:cNvSpPr txBox="1"/>
          <p:nvPr/>
        </p:nvSpPr>
        <p:spPr>
          <a:xfrm>
            <a:off x="502920" y="16916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960120" y="1664208"/>
            <a:ext cx="2880360" cy="2560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Money is whole cents</a:t>
            </a:r>
            <a:endParaRPr lang="en-US" sz="1250" dirty="0"/>
          </a:p>
        </p:txBody>
      </p:sp>
      <p:sp>
        <p:nvSpPr>
          <p:cNvPr id="8" name="Text 6"/>
          <p:cNvSpPr txBox="1"/>
          <p:nvPr/>
        </p:nvSpPr>
        <p:spPr>
          <a:xfrm>
            <a:off x="4069080" y="1664208"/>
            <a:ext cx="4572000" cy="365760"/>
          </a:xfrm>
          <a:prstGeom prst="rect">
            <a:avLst/>
          </a:prstGeom>
          <a:noFill/>
          <a:ln/>
        </p:spPr>
        <p:txBody>
          <a:bodyPr wrap="square" lIns="0" tIns="0" rIns="0" bIns="0" rtlCol="0" anchor="ctr"/>
          <a:lstStyle/>
          <a:p>
            <a:pPr indent="0" marL="0">
              <a:buNone/>
            </a:pPr>
            <a:r>
              <a:rPr lang="en-US" sz="1200" dirty="0">
                <a:solidFill>
                  <a:srgbClr val="5A6470"/>
                </a:solidFill>
                <a:latin typeface="Calibri" pitchFamily="34" charset="0"/>
                <a:ea typeface="Calibri" pitchFamily="34" charset="-122"/>
                <a:cs typeface="Calibri" pitchFamily="34" charset="-120"/>
              </a:rPr>
              <a:t>Decimal only at the edges. Floats are rejected, not rounded.</a:t>
            </a:r>
            <a:endParaRPr lang="en-US" sz="1200" dirty="0"/>
          </a:p>
        </p:txBody>
      </p:sp>
      <p:sp>
        <p:nvSpPr>
          <p:cNvPr id="9" name="Shape 7"/>
          <p:cNvSpPr/>
          <p:nvPr/>
        </p:nvSpPr>
        <p:spPr>
          <a:xfrm>
            <a:off x="502920" y="2240280"/>
            <a:ext cx="310896" cy="310896"/>
          </a:xfrm>
          <a:prstGeom prst="ellipse">
            <a:avLst/>
          </a:prstGeom>
          <a:solidFill>
            <a:srgbClr val="9B2019"/>
          </a:solidFill>
          <a:ln w="12700">
            <a:solidFill>
              <a:srgbClr val="9B2019"/>
            </a:solidFill>
            <a:prstDash val="solid"/>
          </a:ln>
        </p:spPr>
      </p:sp>
      <p:sp>
        <p:nvSpPr>
          <p:cNvPr id="10" name="Text 8"/>
          <p:cNvSpPr txBox="1"/>
          <p:nvPr/>
        </p:nvSpPr>
        <p:spPr>
          <a:xfrm>
            <a:off x="502920" y="22402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960120" y="2212848"/>
            <a:ext cx="2880360" cy="2560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The sum invariant is absolute</a:t>
            </a:r>
            <a:endParaRPr lang="en-US" sz="1250" dirty="0"/>
          </a:p>
        </p:txBody>
      </p:sp>
      <p:sp>
        <p:nvSpPr>
          <p:cNvPr id="12" name="Text 10"/>
          <p:cNvSpPr txBox="1"/>
          <p:nvPr/>
        </p:nvSpPr>
        <p:spPr>
          <a:xfrm>
            <a:off x="4069080" y="2212848"/>
            <a:ext cx="4572000" cy="365760"/>
          </a:xfrm>
          <a:prstGeom prst="rect">
            <a:avLst/>
          </a:prstGeom>
          <a:noFill/>
          <a:ln/>
        </p:spPr>
        <p:txBody>
          <a:bodyPr wrap="square" lIns="0" tIns="0" rIns="0" bIns="0" rtlCol="0" anchor="ctr"/>
          <a:lstStyle/>
          <a:p>
            <a:pPr indent="0" marL="0">
              <a:buNone/>
            </a:pPr>
            <a:r>
              <a:rPr lang="en-US" sz="1200" dirty="0">
                <a:solidFill>
                  <a:srgbClr val="5A6470"/>
                </a:solidFill>
                <a:latin typeface="Calibri" pitchFamily="34" charset="0"/>
                <a:ea typeface="Calibri" pitchFamily="34" charset="-122"/>
                <a:cs typeface="Calibri" pitchFamily="34" charset="-120"/>
              </a:rPr>
              <a:t>The parts equal the total. No tolerance, no epsilon.</a:t>
            </a:r>
            <a:endParaRPr lang="en-US" sz="1200" dirty="0"/>
          </a:p>
        </p:txBody>
      </p:sp>
      <p:sp>
        <p:nvSpPr>
          <p:cNvPr id="13" name="Shape 11"/>
          <p:cNvSpPr/>
          <p:nvPr/>
        </p:nvSpPr>
        <p:spPr>
          <a:xfrm>
            <a:off x="502920" y="2788920"/>
            <a:ext cx="310896" cy="310896"/>
          </a:xfrm>
          <a:prstGeom prst="ellipse">
            <a:avLst/>
          </a:prstGeom>
          <a:solidFill>
            <a:srgbClr val="152238"/>
          </a:solidFill>
          <a:ln w="12700">
            <a:solidFill>
              <a:srgbClr val="152238"/>
            </a:solidFill>
            <a:prstDash val="solid"/>
          </a:ln>
        </p:spPr>
      </p:sp>
      <p:sp>
        <p:nvSpPr>
          <p:cNvPr id="14" name="Text 12"/>
          <p:cNvSpPr txBox="1"/>
          <p:nvPr/>
        </p:nvSpPr>
        <p:spPr>
          <a:xfrm>
            <a:off x="502920" y="27889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960120" y="2761488"/>
            <a:ext cx="2880360" cy="2560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The public API is frozen</a:t>
            </a:r>
            <a:endParaRPr lang="en-US" sz="1250" dirty="0"/>
          </a:p>
        </p:txBody>
      </p:sp>
      <p:sp>
        <p:nvSpPr>
          <p:cNvPr id="16" name="Text 14"/>
          <p:cNvSpPr txBox="1"/>
          <p:nvPr/>
        </p:nvSpPr>
        <p:spPr>
          <a:xfrm>
            <a:off x="4069080" y="2761488"/>
            <a:ext cx="4572000" cy="365760"/>
          </a:xfrm>
          <a:prstGeom prst="rect">
            <a:avLst/>
          </a:prstGeom>
          <a:noFill/>
          <a:ln/>
        </p:spPr>
        <p:txBody>
          <a:bodyPr wrap="square" lIns="0" tIns="0" rIns="0" bIns="0" rtlCol="0" anchor="ctr"/>
          <a:lstStyle/>
          <a:p>
            <a:pPr indent="0" marL="0">
              <a:buNone/>
            </a:pPr>
            <a:r>
              <a:rPr lang="en-US" sz="1200" dirty="0">
                <a:solidFill>
                  <a:srgbClr val="5A6470"/>
                </a:solidFill>
                <a:latin typeface="Calibri" pitchFamily="34" charset="0"/>
                <a:ea typeface="Calibri" pitchFamily="34" charset="-122"/>
                <a:cs typeface="Calibri" pitchFamily="34" charset="-120"/>
              </a:rPr>
              <a:t>Production calls it. Internals are fair game.</a:t>
            </a:r>
            <a:endParaRPr lang="en-US" sz="1200" dirty="0"/>
          </a:p>
        </p:txBody>
      </p:sp>
      <p:sp>
        <p:nvSpPr>
          <p:cNvPr id="17" name="Shape 15"/>
          <p:cNvSpPr/>
          <p:nvPr/>
        </p:nvSpPr>
        <p:spPr>
          <a:xfrm>
            <a:off x="502920" y="3337560"/>
            <a:ext cx="310896" cy="310896"/>
          </a:xfrm>
          <a:prstGeom prst="ellipse">
            <a:avLst/>
          </a:prstGeom>
          <a:solidFill>
            <a:srgbClr val="152238"/>
          </a:solidFill>
          <a:ln w="12700">
            <a:solidFill>
              <a:srgbClr val="152238"/>
            </a:solidFill>
            <a:prstDash val="solid"/>
          </a:ln>
        </p:spPr>
      </p:sp>
      <p:sp>
        <p:nvSpPr>
          <p:cNvPr id="18" name="Text 16"/>
          <p:cNvSpPr txBox="1"/>
          <p:nvPr/>
        </p:nvSpPr>
        <p:spPr>
          <a:xfrm>
            <a:off x="502920" y="33375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960120" y="3310128"/>
            <a:ext cx="2880360" cy="2560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A fix ships with a failing test</a:t>
            </a:r>
            <a:endParaRPr lang="en-US" sz="1250" dirty="0"/>
          </a:p>
        </p:txBody>
      </p:sp>
      <p:sp>
        <p:nvSpPr>
          <p:cNvPr id="20" name="Text 18"/>
          <p:cNvSpPr txBox="1"/>
          <p:nvPr/>
        </p:nvSpPr>
        <p:spPr>
          <a:xfrm>
            <a:off x="4069080" y="3310128"/>
            <a:ext cx="4572000" cy="365760"/>
          </a:xfrm>
          <a:prstGeom prst="rect">
            <a:avLst/>
          </a:prstGeom>
          <a:noFill/>
          <a:ln/>
        </p:spPr>
        <p:txBody>
          <a:bodyPr wrap="square" lIns="0" tIns="0" rIns="0" bIns="0" rtlCol="0" anchor="ctr"/>
          <a:lstStyle/>
          <a:p>
            <a:pPr indent="0" marL="0">
              <a:buNone/>
            </a:pPr>
            <a:r>
              <a:rPr lang="en-US" sz="1200" dirty="0">
                <a:solidFill>
                  <a:srgbClr val="5A6470"/>
                </a:solidFill>
                <a:latin typeface="Calibri" pitchFamily="34" charset="0"/>
                <a:ea typeface="Calibri" pitchFamily="34" charset="-122"/>
                <a:cs typeface="Calibri" pitchFamily="34" charset="-120"/>
              </a:rPr>
              <a:t>Written after a green run, a test proves nothing.</a:t>
            </a:r>
            <a:endParaRPr lang="en-US" sz="1200" dirty="0"/>
          </a:p>
        </p:txBody>
      </p:sp>
      <p:sp>
        <p:nvSpPr>
          <p:cNvPr id="21" name="Shape 19"/>
          <p:cNvSpPr/>
          <p:nvPr/>
        </p:nvSpPr>
        <p:spPr>
          <a:xfrm>
            <a:off x="502920" y="3886200"/>
            <a:ext cx="310896" cy="310896"/>
          </a:xfrm>
          <a:prstGeom prst="ellipse">
            <a:avLst/>
          </a:prstGeom>
          <a:solidFill>
            <a:srgbClr val="152238"/>
          </a:solidFill>
          <a:ln w="12700">
            <a:solidFill>
              <a:srgbClr val="152238"/>
            </a:solidFill>
            <a:prstDash val="solid"/>
          </a:ln>
        </p:spPr>
      </p:sp>
      <p:sp>
        <p:nvSpPr>
          <p:cNvPr id="22" name="Text 20"/>
          <p:cNvSpPr txBox="1"/>
          <p:nvPr/>
        </p:nvSpPr>
        <p:spPr>
          <a:xfrm>
            <a:off x="502920" y="38862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960120" y="3858768"/>
            <a:ext cx="2880360" cy="2560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Say what you didn't check</a:t>
            </a:r>
            <a:endParaRPr lang="en-US" sz="1250" dirty="0"/>
          </a:p>
        </p:txBody>
      </p:sp>
      <p:sp>
        <p:nvSpPr>
          <p:cNvPr id="24" name="Text 22"/>
          <p:cNvSpPr txBox="1"/>
          <p:nvPr/>
        </p:nvSpPr>
        <p:spPr>
          <a:xfrm>
            <a:off x="4069080" y="3858768"/>
            <a:ext cx="4572000" cy="365760"/>
          </a:xfrm>
          <a:prstGeom prst="rect">
            <a:avLst/>
          </a:prstGeom>
          <a:noFill/>
          <a:ln/>
        </p:spPr>
        <p:txBody>
          <a:bodyPr wrap="square" lIns="0" tIns="0" rIns="0" bIns="0" rtlCol="0" anchor="ctr"/>
          <a:lstStyle/>
          <a:p>
            <a:pPr indent="0" marL="0">
              <a:buNone/>
            </a:pPr>
            <a:r>
              <a:rPr lang="en-US" sz="1200" dirty="0">
                <a:solidFill>
                  <a:srgbClr val="5A6470"/>
                </a:solidFill>
                <a:latin typeface="Calibri" pitchFamily="34" charset="0"/>
                <a:ea typeface="Calibri" pitchFamily="34" charset="-122"/>
                <a:cs typeface="Calibri" pitchFamily="34" charset="-120"/>
              </a:rPr>
              <a:t>Silence reads as coverage.</a:t>
            </a:r>
            <a:endParaRPr lang="en-US" sz="1200" dirty="0"/>
          </a:p>
        </p:txBody>
      </p:sp>
      <p:sp>
        <p:nvSpPr>
          <p:cNvPr id="25" name="Text 23"/>
          <p:cNvSpPr txBox="1"/>
          <p:nvPr/>
        </p:nvSpPr>
        <p:spPr>
          <a:xfrm>
            <a:off x="502920" y="4261104"/>
            <a:ext cx="8138160" cy="365760"/>
          </a:xfrm>
          <a:prstGeom prst="rect">
            <a:avLst/>
          </a:prstGeom>
          <a:noFill/>
          <a:ln/>
        </p:spPr>
        <p:txBody>
          <a:bodyPr wrap="square" lIns="0" tIns="0" rIns="0" bIns="0" rtlCol="0" anchor="ctr"/>
          <a:lstStyle/>
          <a:p>
            <a:pPr indent="0" marL="0">
              <a:buNone/>
            </a:pPr>
            <a:r>
              <a:rPr lang="en-US" sz="1200" i="1" dirty="0">
                <a:solidFill>
                  <a:srgbClr val="5A6470"/>
                </a:solidFill>
                <a:latin typeface="Calibri" pitchFamily="34" charset="0"/>
                <a:ea typeface="Calibri" pitchFamily="34" charset="-122"/>
                <a:cs typeface="Calibri" pitchFamily="34" charset="-120"/>
              </a:rPr>
              <a:t>Committed before the ticket existed. Reviewed like code. It binds people too.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9B2019"/>
                </a:solidFill>
                <a:latin typeface="Calibri" pitchFamily="34" charset="0"/>
                <a:ea typeface="Calibri" pitchFamily="34" charset="-122"/>
                <a:cs typeface="Calibri" pitchFamily="34" charset="-120"/>
              </a:rPr>
              <a:t>STEP ONE</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Prove the bug before you fix it</a:t>
            </a:r>
            <a:endParaRPr lang="en-US" sz="3000" dirty="0"/>
          </a:p>
        </p:txBody>
      </p:sp>
      <p:sp>
        <p:nvSpPr>
          <p:cNvPr id="4" name="Shape 2"/>
          <p:cNvSpPr/>
          <p:nvPr/>
        </p:nvSpPr>
        <p:spPr>
          <a:xfrm>
            <a:off x="502920" y="1325880"/>
            <a:ext cx="4937760" cy="1920240"/>
          </a:xfrm>
          <a:prstGeom prst="roundRect">
            <a:avLst>
              <a:gd name="adj" fmla="val 2381"/>
            </a:avLst>
          </a:prstGeom>
          <a:solidFill>
            <a:srgbClr val="152238"/>
          </a:solidFill>
          <a:ln w="12700">
            <a:solidFill>
              <a:srgbClr val="152238"/>
            </a:solidFill>
            <a:prstDash val="solid"/>
          </a:ln>
        </p:spPr>
      </p:sp>
      <p:sp>
        <p:nvSpPr>
          <p:cNvPr id="5" name="Text 3"/>
          <p:cNvSpPr txBox="1"/>
          <p:nvPr/>
        </p:nvSpPr>
        <p:spPr>
          <a:xfrm>
            <a:off x="704088" y="1472184"/>
            <a:ext cx="4535424" cy="1627632"/>
          </a:xfrm>
          <a:prstGeom prst="rect">
            <a:avLst/>
          </a:prstGeom>
          <a:noFill/>
          <a:ln/>
        </p:spPr>
        <p:txBody>
          <a:bodyPr wrap="square" lIns="0" tIns="0" rIns="0" bIns="0" rtlCol="0" anchor="t"/>
          <a:lstStyle/>
          <a:p>
            <a:pPr algn="l" indent="0" marL="0">
              <a:lnSpc>
                <a:spcPts val="1600"/>
              </a:lnSpc>
              <a:buNone/>
            </a:pPr>
            <a:r>
              <a:rPr lang="en-US" sz="1150" dirty="0">
                <a:solidFill>
                  <a:srgbClr val="E9ECF2"/>
                </a:solidFill>
                <a:latin typeface="Courier New" pitchFamily="34" charset="0"/>
                <a:ea typeface="Courier New" pitchFamily="34" charset="-122"/>
                <a:cs typeface="Courier New" pitchFamily="34" charset="-120"/>
              </a:rPr>
              <a:t>$ pytest tests/test_allocate.py -k eng_4172</a:t>
            </a:r>
            <a:endParaRPr lang="en-US" sz="1150" dirty="0"/>
          </a:p>
          <a:p>
            <a:pPr algn="l" indent="0" marL="0">
              <a:lnSpc>
                <a:spcPts val="1600"/>
              </a:lnSpc>
              <a:buNone/>
            </a:pPr>
            <a:endParaRPr lang="en-US" sz="1150" dirty="0"/>
          </a:p>
          <a:p>
            <a:pPr algn="l" indent="0" marL="0">
              <a:lnSpc>
                <a:spcPts val="1600"/>
              </a:lnSpc>
              <a:buNone/>
            </a:pPr>
            <a:r>
              <a:rPr lang="en-US" sz="1150" dirty="0">
                <a:solidFill>
                  <a:srgbClr val="E9ECF2"/>
                </a:solidFill>
                <a:latin typeface="Courier New" pitchFamily="34" charset="0"/>
                <a:ea typeface="Courier New" pitchFamily="34" charset="-122"/>
                <a:cs typeface="Courier New" pitchFamily="34" charset="-120"/>
              </a:rPr>
              <a:t>&gt;       assert sum(s.amount_cents</a:t>
            </a:r>
            <a:endParaRPr lang="en-US" sz="1150" dirty="0"/>
          </a:p>
          <a:p>
            <a:pPr algn="l" indent="0" marL="0">
              <a:lnSpc>
                <a:spcPts val="1600"/>
              </a:lnSpc>
              <a:buNone/>
            </a:pPr>
            <a:r>
              <a:rPr lang="en-US" sz="1150" dirty="0">
                <a:solidFill>
                  <a:srgbClr val="E9ECF2"/>
                </a:solidFill>
                <a:latin typeface="Courier New" pitchFamily="34" charset="0"/>
                <a:ea typeface="Courier New" pitchFamily="34" charset="-122"/>
                <a:cs typeface="Courier New" pitchFamily="34" charset="-120"/>
              </a:rPr>
              <a:t>            for s in shares) == total</a:t>
            </a:r>
            <a:endParaRPr lang="en-US" sz="1150" dirty="0"/>
          </a:p>
          <a:p>
            <a:pPr algn="l" indent="0" marL="0">
              <a:lnSpc>
                <a:spcPts val="1600"/>
              </a:lnSpc>
              <a:buNone/>
            </a:pPr>
            <a:r>
              <a:rPr lang="en-US" sz="1150" dirty="0">
                <a:solidFill>
                  <a:srgbClr val="E9ECF2"/>
                </a:solidFill>
                <a:latin typeface="Courier New" pitchFamily="34" charset="0"/>
                <a:ea typeface="Courier New" pitchFamily="34" charset="-122"/>
                <a:cs typeface="Courier New" pitchFamily="34" charset="-120"/>
              </a:rPr>
              <a:t>E       assert 9999 == 10000</a:t>
            </a:r>
            <a:endParaRPr lang="en-US" sz="1150" dirty="0"/>
          </a:p>
          <a:p>
            <a:pPr algn="l" indent="0" marL="0">
              <a:lnSpc>
                <a:spcPts val="1600"/>
              </a:lnSpc>
              <a:buNone/>
            </a:pPr>
            <a:endParaRPr lang="en-US" sz="1150" dirty="0"/>
          </a:p>
          <a:p>
            <a:pPr algn="l" indent="0" marL="0">
              <a:lnSpc>
                <a:spcPts val="1600"/>
              </a:lnSpc>
              <a:buNone/>
            </a:pPr>
            <a:r>
              <a:rPr lang="en-US" sz="1150" dirty="0">
                <a:solidFill>
                  <a:srgbClr val="E9ECF2"/>
                </a:solidFill>
                <a:latin typeface="Courier New" pitchFamily="34" charset="0"/>
                <a:ea typeface="Courier New" pitchFamily="34" charset="-122"/>
                <a:cs typeface="Courier New" pitchFamily="34" charset="-120"/>
              </a:rPr>
              <a:t>1 failed in 0.17s</a:t>
            </a:r>
            <a:endParaRPr lang="en-US" sz="1150" dirty="0"/>
          </a:p>
        </p:txBody>
      </p:sp>
      <p:sp>
        <p:nvSpPr>
          <p:cNvPr id="6" name="Text 4"/>
          <p:cNvSpPr txBox="1"/>
          <p:nvPr/>
        </p:nvSpPr>
        <p:spPr>
          <a:xfrm>
            <a:off x="5669280" y="1325880"/>
            <a:ext cx="2971800" cy="256032"/>
          </a:xfrm>
          <a:prstGeom prst="rect">
            <a:avLst/>
          </a:prstGeom>
          <a:noFill/>
          <a:ln/>
        </p:spPr>
        <p:txBody>
          <a:bodyPr wrap="square" lIns="0" tIns="0" rIns="0" bIns="0" rtlCol="0" anchor="ctr"/>
          <a:lstStyle/>
          <a:p>
            <a:pPr indent="0" marL="0">
              <a:buNone/>
            </a:pPr>
            <a:r>
              <a:rPr lang="en-US" sz="1250" b="1" dirty="0">
                <a:solidFill>
                  <a:srgbClr val="9B2019"/>
                </a:solidFill>
                <a:latin typeface="Calibri" pitchFamily="34" charset="0"/>
                <a:ea typeface="Calibri" pitchFamily="34" charset="-122"/>
                <a:cs typeface="Calibri" pitchFamily="34" charset="-120"/>
              </a:rPr>
              <a:t>Those are cents.</a:t>
            </a:r>
            <a:endParaRPr lang="en-US" sz="1250" dirty="0"/>
          </a:p>
        </p:txBody>
      </p:sp>
      <p:sp>
        <p:nvSpPr>
          <p:cNvPr id="7" name="Text 5"/>
          <p:cNvSpPr txBox="1"/>
          <p:nvPr/>
        </p:nvSpPr>
        <p:spPr>
          <a:xfrm>
            <a:off x="5669280" y="1645920"/>
            <a:ext cx="2971800" cy="1737360"/>
          </a:xfrm>
          <a:prstGeom prst="rect">
            <a:avLst/>
          </a:prstGeom>
          <a:noFill/>
          <a:ln/>
        </p:spPr>
        <p:txBody>
          <a:bodyPr wrap="square" lIns="0" tIns="0" rIns="0" bIns="0" rtlCol="0" anchor="ctr"/>
          <a:lstStyle/>
          <a:p>
            <a:pPr indent="0" marL="0">
              <a:lnSpc>
                <a:spcPts val="1800"/>
              </a:lnSpc>
              <a:buNone/>
            </a:pPr>
            <a:r>
              <a:rPr lang="en-US" sz="1250" dirty="0">
                <a:solidFill>
                  <a:srgbClr val="2A3340"/>
                </a:solidFill>
                <a:latin typeface="Calibri" pitchFamily="34" charset="0"/>
                <a:ea typeface="Calibri" pitchFamily="34" charset="-122"/>
                <a:cs typeface="Calibri" pitchFamily="34" charset="-120"/>
              </a:rPr>
              <a:t>The missing penny is now a fact in the repository, not a sentence in a ticket. Everything after it gets measured against that failure — and without it you cannot tell a real fix from a plausible-looking edit, which is exactly what these models are best at.</a:t>
            </a:r>
            <a:endParaRPr lang="en-US" sz="1250" dirty="0"/>
          </a:p>
        </p:txBody>
      </p:sp>
      <p:sp>
        <p:nvSpPr>
          <p:cNvPr id="8" name="Shape 6"/>
          <p:cNvSpPr/>
          <p:nvPr/>
        </p:nvSpPr>
        <p:spPr>
          <a:xfrm>
            <a:off x="502920" y="3520440"/>
            <a:ext cx="8138160" cy="777240"/>
          </a:xfrm>
          <a:prstGeom prst="roundRect">
            <a:avLst>
              <a:gd name="adj" fmla="val 7059"/>
            </a:avLst>
          </a:prstGeom>
          <a:solidFill>
            <a:srgbClr val="F1F3F6"/>
          </a:solidFill>
          <a:ln w="12700">
            <a:solidFill>
              <a:srgbClr val="F1F3F6"/>
            </a:solidFill>
            <a:prstDash val="solid"/>
          </a:ln>
        </p:spPr>
      </p:sp>
      <p:sp>
        <p:nvSpPr>
          <p:cNvPr id="9" name="Text 7"/>
          <p:cNvSpPr txBox="1"/>
          <p:nvPr/>
        </p:nvSpPr>
        <p:spPr>
          <a:xfrm>
            <a:off x="758952" y="3520440"/>
            <a:ext cx="7589520" cy="777240"/>
          </a:xfrm>
          <a:prstGeom prst="rect">
            <a:avLst/>
          </a:prstGeom>
          <a:noFill/>
          <a:ln/>
        </p:spPr>
        <p:txBody>
          <a:bodyPr wrap="square" lIns="0" tIns="0" rIns="0" bIns="0" rtlCol="0" anchor="ctr"/>
          <a:lstStyle/>
          <a:p>
            <a:pPr indent="0" marL="0">
              <a:buNone/>
            </a:pPr>
            <a:r>
              <a:rPr lang="en-US" sz="1600" b="1" dirty="0">
                <a:solidFill>
                  <a:srgbClr val="152238"/>
                </a:solidFill>
                <a:latin typeface="Cambria" pitchFamily="34" charset="0"/>
                <a:ea typeface="Cambria" pitchFamily="34" charset="-122"/>
                <a:cs typeface="Cambria" pitchFamily="34" charset="-120"/>
              </a:rPr>
              <a:t>If you take one habit from these ten minutes, take this one.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5A6470"/>
                </a:solidFill>
                <a:latin typeface="Calibri" pitchFamily="34" charset="0"/>
                <a:ea typeface="Calibri" pitchFamily="34" charset="-122"/>
                <a:cs typeface="Calibri" pitchFamily="34" charset="-120"/>
              </a:rPr>
              <a:t>THE CHANGE</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Largest remainder, in whole cents</a:t>
            </a:r>
            <a:endParaRPr lang="en-US" sz="3000" dirty="0"/>
          </a:p>
        </p:txBody>
      </p:sp>
      <p:sp>
        <p:nvSpPr>
          <p:cNvPr id="4" name="Shape 2"/>
          <p:cNvSpPr/>
          <p:nvPr/>
        </p:nvSpPr>
        <p:spPr>
          <a:xfrm>
            <a:off x="502920" y="1280160"/>
            <a:ext cx="310896" cy="310896"/>
          </a:xfrm>
          <a:prstGeom prst="ellipse">
            <a:avLst/>
          </a:prstGeom>
          <a:solidFill>
            <a:srgbClr val="152238"/>
          </a:solidFill>
          <a:ln w="12700">
            <a:solidFill>
              <a:srgbClr val="152238"/>
            </a:solidFill>
            <a:prstDash val="solid"/>
          </a:ln>
        </p:spPr>
      </p:sp>
      <p:sp>
        <p:nvSpPr>
          <p:cNvPr id="5" name="Text 3"/>
          <p:cNvSpPr txBox="1"/>
          <p:nvPr/>
        </p:nvSpPr>
        <p:spPr>
          <a:xfrm>
            <a:off x="502920" y="12801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960120" y="1234440"/>
            <a:ext cx="4663440" cy="274320"/>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Give each line the cents it definitely earns</a:t>
            </a:r>
            <a:endParaRPr lang="en-US" sz="1300" dirty="0"/>
          </a:p>
        </p:txBody>
      </p:sp>
      <p:sp>
        <p:nvSpPr>
          <p:cNvPr id="7" name="Text 5"/>
          <p:cNvSpPr txBox="1"/>
          <p:nvPr/>
        </p:nvSpPr>
        <p:spPr>
          <a:xfrm>
            <a:off x="960120" y="1499616"/>
            <a:ext cx="4663440" cy="27432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3,333 each — that's 9,999 of the 10,000 cents</a:t>
            </a:r>
            <a:endParaRPr lang="en-US" sz="1150" dirty="0"/>
          </a:p>
        </p:txBody>
      </p:sp>
      <p:sp>
        <p:nvSpPr>
          <p:cNvPr id="8" name="Shape 6"/>
          <p:cNvSpPr/>
          <p:nvPr/>
        </p:nvSpPr>
        <p:spPr>
          <a:xfrm>
            <a:off x="502920" y="1938528"/>
            <a:ext cx="310896" cy="310896"/>
          </a:xfrm>
          <a:prstGeom prst="ellipse">
            <a:avLst/>
          </a:prstGeom>
          <a:solidFill>
            <a:srgbClr val="152238"/>
          </a:solidFill>
          <a:ln w="12700">
            <a:solidFill>
              <a:srgbClr val="152238"/>
            </a:solidFill>
            <a:prstDash val="solid"/>
          </a:ln>
        </p:spPr>
      </p:sp>
      <p:sp>
        <p:nvSpPr>
          <p:cNvPr id="9" name="Text 7"/>
          <p:cNvSpPr txBox="1"/>
          <p:nvPr/>
        </p:nvSpPr>
        <p:spPr>
          <a:xfrm>
            <a:off x="502920" y="19385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960120" y="1892808"/>
            <a:ext cx="4663440" cy="274320"/>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Count what flooring left behind</a:t>
            </a:r>
            <a:endParaRPr lang="en-US" sz="1300" dirty="0"/>
          </a:p>
        </p:txBody>
      </p:sp>
      <p:sp>
        <p:nvSpPr>
          <p:cNvPr id="11" name="Text 9"/>
          <p:cNvSpPr txBox="1"/>
          <p:nvPr/>
        </p:nvSpPr>
        <p:spPr>
          <a:xfrm>
            <a:off x="960120" y="2157984"/>
            <a:ext cx="4663440" cy="27432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1 cent</a:t>
            </a:r>
            <a:endParaRPr lang="en-US" sz="1150" dirty="0"/>
          </a:p>
        </p:txBody>
      </p:sp>
      <p:sp>
        <p:nvSpPr>
          <p:cNvPr id="12" name="Shape 10"/>
          <p:cNvSpPr/>
          <p:nvPr/>
        </p:nvSpPr>
        <p:spPr>
          <a:xfrm>
            <a:off x="502920" y="2596896"/>
            <a:ext cx="310896" cy="310896"/>
          </a:xfrm>
          <a:prstGeom prst="ellipse">
            <a:avLst/>
          </a:prstGeom>
          <a:solidFill>
            <a:srgbClr val="152238"/>
          </a:solidFill>
          <a:ln w="12700">
            <a:solidFill>
              <a:srgbClr val="152238"/>
            </a:solidFill>
            <a:prstDash val="solid"/>
          </a:ln>
        </p:spPr>
      </p:sp>
      <p:sp>
        <p:nvSpPr>
          <p:cNvPr id="13" name="Text 11"/>
          <p:cNvSpPr txBox="1"/>
          <p:nvPr/>
        </p:nvSpPr>
        <p:spPr>
          <a:xfrm>
            <a:off x="502920" y="25968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960120" y="2551176"/>
            <a:ext cx="4663440" cy="274320"/>
          </a:xfrm>
          <a:prstGeom prst="rect">
            <a:avLst/>
          </a:prstGeom>
          <a:noFill/>
          <a:ln/>
        </p:spPr>
        <p:txBody>
          <a:bodyPr wrap="square" lIns="0" tIns="0" rIns="0" bIns="0" rtlCol="0" anchor="ctr"/>
          <a:lstStyle/>
          <a:p>
            <a:pPr indent="0" marL="0">
              <a:buNone/>
            </a:pPr>
            <a:r>
              <a:rPr lang="en-US" sz="1300" b="1" dirty="0">
                <a:solidFill>
                  <a:srgbClr val="152238"/>
                </a:solidFill>
                <a:latin typeface="Calibri" pitchFamily="34" charset="0"/>
                <a:ea typeface="Calibri" pitchFamily="34" charset="-122"/>
                <a:cs typeface="Calibri" pitchFamily="34" charset="-120"/>
              </a:rPr>
              <a:t>Hand leftovers to the biggest fractions</a:t>
            </a:r>
            <a:endParaRPr lang="en-US" sz="1300" dirty="0"/>
          </a:p>
        </p:txBody>
      </p:sp>
      <p:sp>
        <p:nvSpPr>
          <p:cNvPr id="15" name="Text 13"/>
          <p:cNvSpPr txBox="1"/>
          <p:nvPr/>
        </p:nvSpPr>
        <p:spPr>
          <a:xfrm>
            <a:off x="960120" y="2816352"/>
            <a:ext cx="4663440" cy="274320"/>
          </a:xfrm>
          <a:prstGeom prst="rect">
            <a:avLst/>
          </a:prstGeom>
          <a:noFill/>
          <a:ln/>
        </p:spPr>
        <p:txBody>
          <a:bodyPr wrap="square" lIns="0" tIns="0" rIns="0" bIns="0" rtlCol="0" anchor="ctr"/>
          <a:lstStyle/>
          <a:p>
            <a:pPr indent="0" marL="0">
              <a:buNone/>
            </a:pPr>
            <a:r>
              <a:rPr lang="en-US" sz="1150" dirty="0">
                <a:solidFill>
                  <a:srgbClr val="5A6470"/>
                </a:solidFill>
                <a:latin typeface="Calibri" pitchFamily="34" charset="0"/>
                <a:ea typeface="Calibri" pitchFamily="34" charset="-122"/>
                <a:cs typeface="Calibri" pitchFamily="34" charset="-120"/>
              </a:rPr>
              <a:t>one cent each, largest first</a:t>
            </a:r>
            <a:endParaRPr lang="en-US" sz="1150" dirty="0"/>
          </a:p>
        </p:txBody>
      </p:sp>
      <p:sp>
        <p:nvSpPr>
          <p:cNvPr id="16" name="Shape 14"/>
          <p:cNvSpPr/>
          <p:nvPr/>
        </p:nvSpPr>
        <p:spPr>
          <a:xfrm>
            <a:off x="5669280" y="1280160"/>
            <a:ext cx="2971800" cy="1783080"/>
          </a:xfrm>
          <a:prstGeom prst="roundRect">
            <a:avLst>
              <a:gd name="adj" fmla="val 2564"/>
            </a:avLst>
          </a:prstGeom>
          <a:solidFill>
            <a:srgbClr val="10402A"/>
          </a:solidFill>
          <a:ln w="12700">
            <a:solidFill>
              <a:srgbClr val="10402A"/>
            </a:solidFill>
            <a:prstDash val="solid"/>
          </a:ln>
        </p:spPr>
      </p:sp>
      <p:sp>
        <p:nvSpPr>
          <p:cNvPr id="17" name="Text 15"/>
          <p:cNvSpPr txBox="1"/>
          <p:nvPr/>
        </p:nvSpPr>
        <p:spPr>
          <a:xfrm>
            <a:off x="5870448" y="1426464"/>
            <a:ext cx="2569464" cy="1490472"/>
          </a:xfrm>
          <a:prstGeom prst="rect">
            <a:avLst/>
          </a:prstGeom>
          <a:noFill/>
          <a:ln/>
        </p:spPr>
        <p:txBody>
          <a:bodyPr wrap="square" lIns="0" tIns="0" rIns="0" bIns="0" rtlCol="0" anchor="t"/>
          <a:lstStyle/>
          <a:p>
            <a:pPr algn="l" indent="0" marL="0">
              <a:lnSpc>
                <a:spcPts val="2000"/>
              </a:lnSpc>
              <a:buNone/>
            </a:pPr>
            <a:r>
              <a:rPr lang="en-US" sz="1400" dirty="0">
                <a:solidFill>
                  <a:srgbClr val="9FD9B6"/>
                </a:solidFill>
                <a:latin typeface="Courier New" pitchFamily="34" charset="0"/>
                <a:ea typeface="Courier New" pitchFamily="34" charset="-122"/>
                <a:cs typeface="Courier New" pitchFamily="34" charset="-120"/>
              </a:rPr>
              <a:t>$33.34</a:t>
            </a:r>
            <a:endParaRPr lang="en-US" sz="1400" dirty="0"/>
          </a:p>
          <a:p>
            <a:pPr algn="l" indent="0" marL="0">
              <a:lnSpc>
                <a:spcPts val="2000"/>
              </a:lnSpc>
              <a:buNone/>
            </a:pPr>
            <a:r>
              <a:rPr lang="en-US" sz="1400" dirty="0">
                <a:solidFill>
                  <a:srgbClr val="9FD9B6"/>
                </a:solidFill>
                <a:latin typeface="Courier New" pitchFamily="34" charset="0"/>
                <a:ea typeface="Courier New" pitchFamily="34" charset="-122"/>
                <a:cs typeface="Courier New" pitchFamily="34" charset="-120"/>
              </a:rPr>
              <a:t>$33.33</a:t>
            </a:r>
            <a:endParaRPr lang="en-US" sz="1400" dirty="0"/>
          </a:p>
          <a:p>
            <a:pPr algn="l" indent="0" marL="0">
              <a:lnSpc>
                <a:spcPts val="2000"/>
              </a:lnSpc>
              <a:buNone/>
            </a:pPr>
            <a:r>
              <a:rPr lang="en-US" sz="1400" dirty="0">
                <a:solidFill>
                  <a:srgbClr val="9FD9B6"/>
                </a:solidFill>
                <a:latin typeface="Courier New" pitchFamily="34" charset="0"/>
                <a:ea typeface="Courier New" pitchFamily="34" charset="-122"/>
                <a:cs typeface="Courier New" pitchFamily="34" charset="-120"/>
              </a:rPr>
              <a:t>$33.33</a:t>
            </a:r>
            <a:endParaRPr lang="en-US" sz="1400" dirty="0"/>
          </a:p>
          <a:p>
            <a:pPr algn="l" indent="0" marL="0">
              <a:lnSpc>
                <a:spcPts val="2000"/>
              </a:lnSpc>
              <a:buNone/>
            </a:pPr>
            <a:r>
              <a:rPr lang="en-US" sz="1400" dirty="0">
                <a:solidFill>
                  <a:srgbClr val="9FD9B6"/>
                </a:solidFill>
                <a:latin typeface="Courier New" pitchFamily="34" charset="0"/>
                <a:ea typeface="Courier New" pitchFamily="34" charset="-122"/>
                <a:cs typeface="Courier New" pitchFamily="34" charset="-120"/>
              </a:rPr>
              <a:t>──────</a:t>
            </a:r>
            <a:endParaRPr lang="en-US" sz="1400" dirty="0"/>
          </a:p>
          <a:p>
            <a:pPr algn="l" indent="0" marL="0">
              <a:lnSpc>
                <a:spcPts val="2000"/>
              </a:lnSpc>
              <a:buNone/>
            </a:pPr>
            <a:r>
              <a:rPr lang="en-US" sz="1400" dirty="0">
                <a:solidFill>
                  <a:srgbClr val="9FD9B6"/>
                </a:solidFill>
                <a:latin typeface="Courier New" pitchFamily="34" charset="0"/>
                <a:ea typeface="Courier New" pitchFamily="34" charset="-122"/>
                <a:cs typeface="Courier New" pitchFamily="34" charset="-120"/>
              </a:rPr>
              <a:t>$100.00</a:t>
            </a:r>
            <a:endParaRPr lang="en-US" sz="1400" dirty="0"/>
          </a:p>
        </p:txBody>
      </p:sp>
      <p:sp>
        <p:nvSpPr>
          <p:cNvPr id="18" name="Shape 16"/>
          <p:cNvSpPr/>
          <p:nvPr/>
        </p:nvSpPr>
        <p:spPr>
          <a:xfrm>
            <a:off x="5669280" y="3310128"/>
            <a:ext cx="2971800" cy="978408"/>
          </a:xfrm>
          <a:prstGeom prst="roundRect">
            <a:avLst>
              <a:gd name="adj" fmla="val 5607"/>
            </a:avLst>
          </a:prstGeom>
          <a:solidFill>
            <a:srgbClr val="F1F3F6"/>
          </a:solidFill>
          <a:ln w="12700">
            <a:solidFill>
              <a:srgbClr val="F1F3F6"/>
            </a:solidFill>
            <a:prstDash val="solid"/>
          </a:ln>
        </p:spPr>
      </p:sp>
      <p:sp>
        <p:nvSpPr>
          <p:cNvPr id="19" name="Text 17"/>
          <p:cNvSpPr txBox="1"/>
          <p:nvPr/>
        </p:nvSpPr>
        <p:spPr>
          <a:xfrm>
            <a:off x="5897880" y="3310128"/>
            <a:ext cx="2560320" cy="978408"/>
          </a:xfrm>
          <a:prstGeom prst="rect">
            <a:avLst/>
          </a:prstGeom>
          <a:noFill/>
          <a:ln/>
        </p:spPr>
        <p:txBody>
          <a:bodyPr wrap="square" lIns="0" tIns="0" rIns="0" bIns="0" rtlCol="0" anchor="ctr"/>
          <a:lstStyle/>
          <a:p>
            <a:pPr indent="0" marL="0">
              <a:lnSpc>
                <a:spcPts val="1700"/>
              </a:lnSpc>
              <a:buNone/>
            </a:pPr>
            <a:r>
              <a:rPr lang="en-US" sz="1200" b="1" dirty="0">
                <a:solidFill>
                  <a:srgbClr val="152238"/>
                </a:solidFill>
                <a:latin typeface="Calibri" pitchFamily="34" charset="0"/>
                <a:ea typeface="Calibri" pitchFamily="34" charset="-122"/>
                <a:cs typeface="Calibri" pitchFamily="34" charset="-120"/>
              </a:rPr>
              <a:t>Public API unchanged</a:t>
            </a:r>
            <a:endParaRPr lang="en-US" sz="1200" dirty="0"/>
          </a:p>
          <a:p>
            <a:pPr indent="0" marL="0">
              <a:lnSpc>
                <a:spcPts val="1700"/>
              </a:lnSpc>
              <a:buNone/>
            </a:pPr>
            <a:r>
              <a:rPr lang="en-US" sz="1200" b="1" dirty="0">
                <a:solidFill>
                  <a:srgbClr val="152238"/>
                </a:solidFill>
                <a:latin typeface="Calibri" pitchFamily="34" charset="0"/>
                <a:ea typeface="Calibri" pitchFamily="34" charset="-122"/>
                <a:cs typeface="Calibri" pitchFamily="34" charset="-120"/>
              </a:rPr>
              <a:t>across all three commits</a:t>
            </a:r>
            <a:endParaRPr lang="en-US" sz="1200" dirty="0"/>
          </a:p>
        </p:txBody>
      </p:sp>
      <p:sp>
        <p:nvSpPr>
          <p:cNvPr id="20" name="Text 18"/>
          <p:cNvSpPr txBox="1"/>
          <p:nvPr/>
        </p:nvSpPr>
        <p:spPr>
          <a:xfrm>
            <a:off x="502920" y="3383280"/>
            <a:ext cx="4937760" cy="914400"/>
          </a:xfrm>
          <a:prstGeom prst="rect">
            <a:avLst/>
          </a:prstGeom>
          <a:noFill/>
          <a:ln/>
        </p:spPr>
        <p:txBody>
          <a:bodyPr wrap="square" lIns="0" tIns="0" rIns="0" bIns="0" rtlCol="0" anchor="ctr"/>
          <a:lstStyle/>
          <a:p>
            <a:pPr indent="0" marL="0">
              <a:lnSpc>
                <a:spcPts val="1800"/>
              </a:lnSpc>
              <a:buNone/>
            </a:pPr>
            <a:r>
              <a:rPr lang="en-US" sz="1250" dirty="0">
                <a:solidFill>
                  <a:srgbClr val="2A3340"/>
                </a:solidFill>
                <a:latin typeface="Calibri" pitchFamily="34" charset="0"/>
                <a:ea typeface="Calibri" pitchFamily="34" charset="-122"/>
                <a:cs typeface="Calibri" pitchFamily="34" charset="-120"/>
              </a:rPr>
              <a:t>No Decimal, no rounding mode, no floating point anywhere in the allocation path. You can't pick the wrong rounding mode if you never round — the total is exact because of how it's built, not because it happened to work out.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17603A"/>
                </a:solidFill>
                <a:latin typeface="Calibri" pitchFamily="34" charset="0"/>
                <a:ea typeface="Calibri" pitchFamily="34" charset="-122"/>
                <a:cs typeface="Calibri" pitchFamily="34" charset="-120"/>
              </a:rPr>
              <a:t>VALIDATION</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Green — including inputs nobody typed</a:t>
            </a:r>
            <a:endParaRPr lang="en-US" sz="3000" dirty="0"/>
          </a:p>
        </p:txBody>
      </p:sp>
      <p:pic>
        <p:nvPicPr>
          <p:cNvPr id="4" name="Image 0" descr="/tmp/badge-after.png">    </p:cNvPr>
          <p:cNvPicPr>
            <a:picLocks noChangeAspect="1"/>
          </p:cNvPicPr>
          <p:nvPr/>
        </p:nvPicPr>
        <p:blipFill>
          <a:blip r:embed="rId1"/>
          <a:stretch>
            <a:fillRect/>
          </a:stretch>
        </p:blipFill>
        <p:spPr>
          <a:xfrm>
            <a:off x="502920" y="1234440"/>
            <a:ext cx="5029200" cy="868680"/>
          </a:xfrm>
          <a:prstGeom prst="rect">
            <a:avLst/>
          </a:prstGeom>
        </p:spPr>
      </p:pic>
      <p:sp>
        <p:nvSpPr>
          <p:cNvPr id="5" name="Text 2"/>
          <p:cNvSpPr txBox="1"/>
          <p:nvPr/>
        </p:nvSpPr>
        <p:spPr>
          <a:xfrm>
            <a:off x="502920" y="2286000"/>
            <a:ext cx="5029200" cy="1188720"/>
          </a:xfrm>
          <a:prstGeom prst="rect">
            <a:avLst/>
          </a:prstGeom>
          <a:noFill/>
          <a:ln/>
        </p:spPr>
        <p:txBody>
          <a:bodyPr wrap="square" lIns="0" tIns="0" rIns="0" bIns="0" rtlCol="0" anchor="ctr"/>
          <a:lstStyle/>
          <a:p>
            <a:pPr indent="0" marL="0">
              <a:lnSpc>
                <a:spcPts val="1900"/>
              </a:lnSpc>
              <a:buNone/>
            </a:pPr>
            <a:r>
              <a:rPr lang="en-US" sz="1300" dirty="0">
                <a:solidFill>
                  <a:srgbClr val="2A3340"/>
                </a:solidFill>
                <a:latin typeface="Calibri" pitchFamily="34" charset="0"/>
                <a:ea typeface="Calibri" pitchFamily="34" charset="-122"/>
                <a:cs typeface="Calibri" pitchFamily="34" charset="-120"/>
              </a:rPr>
              <a:t>A property test isn't a test of one example. It's a claim about every input — “whatever the refund, whatever the lines, the parts sum to the total” — and then the library spends the run generating inputs specifically trying to break it.</a:t>
            </a:r>
            <a:endParaRPr lang="en-US" sz="1300" dirty="0"/>
          </a:p>
        </p:txBody>
      </p:sp>
      <p:sp>
        <p:nvSpPr>
          <p:cNvPr id="6" name="Shape 3"/>
          <p:cNvSpPr/>
          <p:nvPr/>
        </p:nvSpPr>
        <p:spPr>
          <a:xfrm>
            <a:off x="5806440" y="1234440"/>
            <a:ext cx="2834640" cy="1024128"/>
          </a:xfrm>
          <a:prstGeom prst="roundRect">
            <a:avLst>
              <a:gd name="adj" fmla="val 5357"/>
            </a:avLst>
          </a:prstGeom>
          <a:solidFill>
            <a:srgbClr val="E6F2EB"/>
          </a:solidFill>
          <a:ln w="12700">
            <a:solidFill>
              <a:srgbClr val="E6F2EB"/>
            </a:solidFill>
            <a:prstDash val="solid"/>
          </a:ln>
        </p:spPr>
      </p:sp>
      <p:sp>
        <p:nvSpPr>
          <p:cNvPr id="7" name="Text 4"/>
          <p:cNvSpPr txBox="1"/>
          <p:nvPr/>
        </p:nvSpPr>
        <p:spPr>
          <a:xfrm>
            <a:off x="5952744" y="1344168"/>
            <a:ext cx="2542032" cy="512064"/>
          </a:xfrm>
          <a:prstGeom prst="rect">
            <a:avLst/>
          </a:prstGeom>
          <a:noFill/>
          <a:ln/>
        </p:spPr>
        <p:txBody>
          <a:bodyPr wrap="square" lIns="0" tIns="0" rIns="0" bIns="0" rtlCol="0" anchor="ctr"/>
          <a:lstStyle/>
          <a:p>
            <a:pPr indent="0" marL="0">
              <a:buNone/>
            </a:pPr>
            <a:r>
              <a:rPr lang="en-US" sz="2800" b="1" dirty="0">
                <a:solidFill>
                  <a:srgbClr val="17603A"/>
                </a:solidFill>
                <a:latin typeface="Cambria" pitchFamily="34" charset="0"/>
                <a:ea typeface="Cambria" pitchFamily="34" charset="-122"/>
                <a:cs typeface="Cambria" pitchFamily="34" charset="-120"/>
              </a:rPr>
              <a:t>20</a:t>
            </a:r>
            <a:endParaRPr lang="en-US" sz="2800" dirty="0"/>
          </a:p>
        </p:txBody>
      </p:sp>
      <p:sp>
        <p:nvSpPr>
          <p:cNvPr id="8" name="Text 5"/>
          <p:cNvSpPr txBox="1"/>
          <p:nvPr/>
        </p:nvSpPr>
        <p:spPr>
          <a:xfrm>
            <a:off x="5952744" y="1837944"/>
            <a:ext cx="2542032" cy="329184"/>
          </a:xfrm>
          <a:prstGeom prst="rect">
            <a:avLst/>
          </a:prstGeom>
          <a:noFill/>
          <a:ln/>
        </p:spPr>
        <p:txBody>
          <a:bodyPr wrap="square" lIns="0" tIns="0" rIns="0" bIns="0" rtlCol="0" anchor="t"/>
          <a:lstStyle/>
          <a:p>
            <a:pPr indent="0" marL="0">
              <a:buNone/>
            </a:pPr>
            <a:r>
              <a:rPr lang="en-US" sz="1100" dirty="0">
                <a:solidFill>
                  <a:srgbClr val="3D5648"/>
                </a:solidFill>
                <a:latin typeface="Calibri" pitchFamily="34" charset="0"/>
                <a:ea typeface="Calibri" pitchFamily="34" charset="-122"/>
                <a:cs typeface="Calibri" pitchFamily="34" charset="-120"/>
              </a:rPr>
              <a:t>tests passing</a:t>
            </a:r>
            <a:endParaRPr lang="en-US" sz="1100" dirty="0"/>
          </a:p>
        </p:txBody>
      </p:sp>
      <p:sp>
        <p:nvSpPr>
          <p:cNvPr id="9" name="Shape 6"/>
          <p:cNvSpPr/>
          <p:nvPr/>
        </p:nvSpPr>
        <p:spPr>
          <a:xfrm>
            <a:off x="5806440" y="2395728"/>
            <a:ext cx="2834640" cy="1024128"/>
          </a:xfrm>
          <a:prstGeom prst="roundRect">
            <a:avLst>
              <a:gd name="adj" fmla="val 5357"/>
            </a:avLst>
          </a:prstGeom>
          <a:solidFill>
            <a:srgbClr val="F1F3F6"/>
          </a:solidFill>
          <a:ln w="12700">
            <a:solidFill>
              <a:srgbClr val="F1F3F6"/>
            </a:solidFill>
            <a:prstDash val="solid"/>
          </a:ln>
        </p:spPr>
      </p:sp>
      <p:sp>
        <p:nvSpPr>
          <p:cNvPr id="10" name="Text 7"/>
          <p:cNvSpPr txBox="1"/>
          <p:nvPr/>
        </p:nvSpPr>
        <p:spPr>
          <a:xfrm>
            <a:off x="5952744" y="2505456"/>
            <a:ext cx="2542032" cy="512064"/>
          </a:xfrm>
          <a:prstGeom prst="rect">
            <a:avLst/>
          </a:prstGeom>
          <a:noFill/>
          <a:ln/>
        </p:spPr>
        <p:txBody>
          <a:bodyPr wrap="square" lIns="0" tIns="0" rIns="0" bIns="0" rtlCol="0" anchor="ctr"/>
          <a:lstStyle/>
          <a:p>
            <a:pPr indent="0" marL="0">
              <a:buNone/>
            </a:pPr>
            <a:r>
              <a:rPr lang="en-US" sz="2800" b="1" dirty="0">
                <a:solidFill>
                  <a:srgbClr val="152238"/>
                </a:solidFill>
                <a:latin typeface="Cambria" pitchFamily="34" charset="0"/>
                <a:ea typeface="Cambria" pitchFamily="34" charset="-122"/>
                <a:cs typeface="Cambria" pitchFamily="34" charset="-120"/>
              </a:rPr>
              <a:t>500</a:t>
            </a:r>
            <a:endParaRPr lang="en-US" sz="2800" dirty="0"/>
          </a:p>
        </p:txBody>
      </p:sp>
      <p:sp>
        <p:nvSpPr>
          <p:cNvPr id="11" name="Text 8"/>
          <p:cNvSpPr txBox="1"/>
          <p:nvPr/>
        </p:nvSpPr>
        <p:spPr>
          <a:xfrm>
            <a:off x="5952744" y="2999232"/>
            <a:ext cx="2542032" cy="329184"/>
          </a:xfrm>
          <a:prstGeom prst="rect">
            <a:avLst/>
          </a:prstGeom>
          <a:noFill/>
          <a:ln/>
        </p:spPr>
        <p:txBody>
          <a:bodyPr wrap="square" lIns="0" tIns="0" rIns="0" bIns="0" rtlCol="0" anchor="t"/>
          <a:lstStyle/>
          <a:p>
            <a:pPr indent="0" marL="0">
              <a:buNone/>
            </a:pPr>
            <a:r>
              <a:rPr lang="en-US" sz="1100" dirty="0">
                <a:solidFill>
                  <a:srgbClr val="5A6470"/>
                </a:solidFill>
                <a:latin typeface="Calibri" pitchFamily="34" charset="0"/>
                <a:ea typeface="Calibri" pitchFamily="34" charset="-122"/>
                <a:cs typeface="Calibri" pitchFamily="34" charset="-120"/>
              </a:rPr>
              <a:t>generated cases, per run</a:t>
            </a:r>
            <a:endParaRPr lang="en-US" sz="1100" dirty="0"/>
          </a:p>
        </p:txBody>
      </p:sp>
      <p:sp>
        <p:nvSpPr>
          <p:cNvPr id="12" name="Shape 9"/>
          <p:cNvSpPr/>
          <p:nvPr/>
        </p:nvSpPr>
        <p:spPr>
          <a:xfrm>
            <a:off x="5806440" y="3557016"/>
            <a:ext cx="2834640" cy="1024128"/>
          </a:xfrm>
          <a:prstGeom prst="roundRect">
            <a:avLst>
              <a:gd name="adj" fmla="val 5357"/>
            </a:avLst>
          </a:prstGeom>
          <a:solidFill>
            <a:srgbClr val="F1F3F6"/>
          </a:solidFill>
          <a:ln w="12700">
            <a:solidFill>
              <a:srgbClr val="F1F3F6"/>
            </a:solidFill>
            <a:prstDash val="solid"/>
          </a:ln>
        </p:spPr>
      </p:sp>
      <p:sp>
        <p:nvSpPr>
          <p:cNvPr id="13" name="Text 10"/>
          <p:cNvSpPr txBox="1"/>
          <p:nvPr/>
        </p:nvSpPr>
        <p:spPr>
          <a:xfrm>
            <a:off x="5952744" y="3666744"/>
            <a:ext cx="2542032" cy="512064"/>
          </a:xfrm>
          <a:prstGeom prst="rect">
            <a:avLst/>
          </a:prstGeom>
          <a:noFill/>
          <a:ln/>
        </p:spPr>
        <p:txBody>
          <a:bodyPr wrap="square" lIns="0" tIns="0" rIns="0" bIns="0" rtlCol="0" anchor="ctr"/>
          <a:lstStyle/>
          <a:p>
            <a:pPr indent="0" marL="0">
              <a:buNone/>
            </a:pPr>
            <a:r>
              <a:rPr lang="en-US" sz="2800" b="1" dirty="0">
                <a:solidFill>
                  <a:srgbClr val="152238"/>
                </a:solidFill>
                <a:latin typeface="Cambria" pitchFamily="34" charset="0"/>
                <a:ea typeface="Cambria" pitchFamily="34" charset="-122"/>
                <a:cs typeface="Cambria" pitchFamily="34" charset="-120"/>
              </a:rPr>
              <a:t>0</a:t>
            </a:r>
            <a:endParaRPr lang="en-US" sz="2800" dirty="0"/>
          </a:p>
        </p:txBody>
      </p:sp>
      <p:sp>
        <p:nvSpPr>
          <p:cNvPr id="14" name="Text 11"/>
          <p:cNvSpPr txBox="1"/>
          <p:nvPr/>
        </p:nvSpPr>
        <p:spPr>
          <a:xfrm>
            <a:off x="5952744" y="4160520"/>
            <a:ext cx="2542032" cy="329184"/>
          </a:xfrm>
          <a:prstGeom prst="rect">
            <a:avLst/>
          </a:prstGeom>
          <a:noFill/>
          <a:ln/>
        </p:spPr>
        <p:txBody>
          <a:bodyPr wrap="square" lIns="0" tIns="0" rIns="0" bIns="0" rtlCol="0" anchor="t"/>
          <a:lstStyle/>
          <a:p>
            <a:pPr indent="0" marL="0">
              <a:buNone/>
            </a:pPr>
            <a:r>
              <a:rPr lang="en-US" sz="1100" dirty="0">
                <a:solidFill>
                  <a:srgbClr val="5A6470"/>
                </a:solidFill>
                <a:latin typeface="Calibri" pitchFamily="34" charset="0"/>
                <a:ea typeface="Calibri" pitchFamily="34" charset="-122"/>
                <a:cs typeface="Calibri" pitchFamily="34" charset="-120"/>
              </a:rPr>
              <a:t>failures</a:t>
            </a:r>
            <a:endParaRPr lang="en-US" sz="1100" dirty="0"/>
          </a:p>
        </p:txBody>
      </p:sp>
      <p:sp>
        <p:nvSpPr>
          <p:cNvPr id="15" name="Shape 12"/>
          <p:cNvSpPr/>
          <p:nvPr/>
        </p:nvSpPr>
        <p:spPr>
          <a:xfrm>
            <a:off x="502920" y="3611880"/>
            <a:ext cx="5029200" cy="713232"/>
          </a:xfrm>
          <a:prstGeom prst="roundRect">
            <a:avLst>
              <a:gd name="adj" fmla="val 7692"/>
            </a:avLst>
          </a:prstGeom>
          <a:solidFill>
            <a:srgbClr val="152238"/>
          </a:solidFill>
          <a:ln w="12700">
            <a:solidFill>
              <a:srgbClr val="152238"/>
            </a:solidFill>
            <a:prstDash val="solid"/>
          </a:ln>
        </p:spPr>
      </p:sp>
      <p:sp>
        <p:nvSpPr>
          <p:cNvPr id="16" name="Text 13"/>
          <p:cNvSpPr txBox="1"/>
          <p:nvPr/>
        </p:nvSpPr>
        <p:spPr>
          <a:xfrm>
            <a:off x="758952" y="3611880"/>
            <a:ext cx="4572000" cy="71323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True. And not enough.</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9B2019"/>
                </a:solidFill>
                <a:latin typeface="Calibri" pitchFamily="34" charset="0"/>
                <a:ea typeface="Calibri" pitchFamily="34" charset="-122"/>
                <a:cs typeface="Calibri" pitchFamily="34" charset="-120"/>
              </a:rPr>
              <a:t>REVIEW</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A question no test had asked</a:t>
            </a:r>
            <a:endParaRPr lang="en-US" sz="3000" dirty="0"/>
          </a:p>
        </p:txBody>
      </p:sp>
      <p:sp>
        <p:nvSpPr>
          <p:cNvPr id="4" name="Text 2"/>
          <p:cNvSpPr txBox="1"/>
          <p:nvPr/>
        </p:nvSpPr>
        <p:spPr>
          <a:xfrm>
            <a:off x="502920" y="1097280"/>
            <a:ext cx="8138160" cy="365760"/>
          </a:xfrm>
          <a:prstGeom prst="rect">
            <a:avLst/>
          </a:prstGeom>
          <a:noFill/>
          <a:ln/>
        </p:spPr>
        <p:txBody>
          <a:bodyPr wrap="square" lIns="0" tIns="0" rIns="0" bIns="0" rtlCol="0" anchor="ctr"/>
          <a:lstStyle/>
          <a:p>
            <a:pPr indent="0" marL="0">
              <a:buNone/>
            </a:pPr>
            <a:r>
              <a:rPr lang="en-US" sz="1400" i="1" dirty="0">
                <a:solidFill>
                  <a:srgbClr val="9B2019"/>
                </a:solidFill>
                <a:latin typeface="Calibri" pitchFamily="34" charset="0"/>
                <a:ea typeface="Calibri" pitchFamily="34" charset="-122"/>
                <a:cs typeface="Calibri" pitchFamily="34" charset="-120"/>
              </a:rPr>
              <a:t>Does each line get the same share regardless of what order the lines are handed over in?</a:t>
            </a:r>
            <a:endParaRPr lang="en-US" sz="1400" dirty="0"/>
          </a:p>
        </p:txBody>
      </p:sp>
      <p:sp>
        <p:nvSpPr>
          <p:cNvPr id="5" name="Shape 3"/>
          <p:cNvSpPr/>
          <p:nvPr/>
        </p:nvSpPr>
        <p:spPr>
          <a:xfrm>
            <a:off x="502920" y="1572768"/>
            <a:ext cx="8138160" cy="960120"/>
          </a:xfrm>
          <a:prstGeom prst="roundRect">
            <a:avLst>
              <a:gd name="adj" fmla="val 4762"/>
            </a:avLst>
          </a:prstGeom>
          <a:solidFill>
            <a:srgbClr val="152238"/>
          </a:solidFill>
          <a:ln w="12700">
            <a:solidFill>
              <a:srgbClr val="152238"/>
            </a:solidFill>
            <a:prstDash val="solid"/>
          </a:ln>
        </p:spPr>
      </p:sp>
      <p:sp>
        <p:nvSpPr>
          <p:cNvPr id="6" name="Text 4"/>
          <p:cNvSpPr txBox="1"/>
          <p:nvPr/>
        </p:nvSpPr>
        <p:spPr>
          <a:xfrm>
            <a:off x="704088" y="1719072"/>
            <a:ext cx="7735824" cy="667512"/>
          </a:xfrm>
          <a:prstGeom prst="rect">
            <a:avLst/>
          </a:prstGeom>
          <a:noFill/>
          <a:ln/>
        </p:spPr>
        <p:txBody>
          <a:bodyPr wrap="square" lIns="0" tIns="0" rIns="0" bIns="0" rtlCol="0" anchor="t"/>
          <a:lstStyle/>
          <a:p>
            <a:pPr algn="l" indent="0" marL="0">
              <a:lnSpc>
                <a:spcPts val="2100"/>
              </a:lnSpc>
              <a:buNone/>
            </a:pPr>
            <a:r>
              <a:rPr lang="en-US" sz="1150" dirty="0">
                <a:solidFill>
                  <a:srgbClr val="E9ECF2"/>
                </a:solidFill>
                <a:latin typeface="Courier New" pitchFamily="34" charset="0"/>
                <a:ea typeface="Courier New" pitchFamily="34" charset="-122"/>
                <a:cs typeface="Courier New" pitchFamily="34" charset="-120"/>
              </a:rPr>
              <a:t>as entered    L-001=$33.34   L-002=$33.33   L-003=$33.33     sum = $100.00</a:t>
            </a:r>
            <a:endParaRPr lang="en-US" sz="1150" dirty="0"/>
          </a:p>
          <a:p>
            <a:pPr algn="l" indent="0" marL="0">
              <a:lnSpc>
                <a:spcPts val="2100"/>
              </a:lnSpc>
              <a:buNone/>
            </a:pPr>
            <a:r>
              <a:rPr lang="en-US" sz="1150" dirty="0">
                <a:solidFill>
                  <a:srgbClr val="E9ECF2"/>
                </a:solidFill>
                <a:latin typeface="Courier New" pitchFamily="34" charset="0"/>
                <a:ea typeface="Courier New" pitchFamily="34" charset="-122"/>
                <a:cs typeface="Courier New" pitchFamily="34" charset="-120"/>
              </a:rPr>
              <a:t>reordered     L-001=$33.33   L-002=$33.33   L-003=$33.34     sum = $100.00</a:t>
            </a:r>
            <a:endParaRPr lang="en-US" sz="1150" dirty="0"/>
          </a:p>
        </p:txBody>
      </p:sp>
      <p:sp>
        <p:nvSpPr>
          <p:cNvPr id="7" name="Text 5"/>
          <p:cNvSpPr txBox="1"/>
          <p:nvPr/>
        </p:nvSpPr>
        <p:spPr>
          <a:xfrm>
            <a:off x="502920" y="2880360"/>
            <a:ext cx="5120640" cy="502920"/>
          </a:xfrm>
          <a:prstGeom prst="rect">
            <a:avLst/>
          </a:prstGeom>
          <a:noFill/>
          <a:ln/>
        </p:spPr>
        <p:txBody>
          <a:bodyPr wrap="square" lIns="0" tIns="0" rIns="0" bIns="0" rtlCol="0" anchor="ctr"/>
          <a:lstStyle/>
          <a:p>
            <a:pPr indent="0" marL="0">
              <a:lnSpc>
                <a:spcPts val="1800"/>
              </a:lnSpc>
              <a:buNone/>
            </a:pPr>
            <a:r>
              <a:rPr lang="en-US" sz="1300" dirty="0">
                <a:solidFill>
                  <a:srgbClr val="2A3340"/>
                </a:solidFill>
                <a:latin typeface="Calibri" pitchFamily="34" charset="0"/>
                <a:ea typeface="Calibri" pitchFamily="34" charset="-122"/>
                <a:cs typeface="Calibri" pitchFamily="34" charset="-120"/>
              </a:rPr>
              <a:t>Same lines. Same refund. Only the order they were passed in changed — and a different item owns the cent.</a:t>
            </a:r>
            <a:endParaRPr lang="en-US" sz="1300" dirty="0"/>
          </a:p>
        </p:txBody>
      </p:sp>
      <p:sp>
        <p:nvSpPr>
          <p:cNvPr id="8" name="Shape 6"/>
          <p:cNvSpPr/>
          <p:nvPr/>
        </p:nvSpPr>
        <p:spPr>
          <a:xfrm>
            <a:off x="502920" y="3493008"/>
            <a:ext cx="5120640" cy="868680"/>
          </a:xfrm>
          <a:prstGeom prst="roundRect">
            <a:avLst>
              <a:gd name="adj" fmla="val 6316"/>
            </a:avLst>
          </a:prstGeom>
          <a:solidFill>
            <a:srgbClr val="FBEAE8"/>
          </a:solidFill>
          <a:ln w="12700">
            <a:solidFill>
              <a:srgbClr val="FBEAE8"/>
            </a:solidFill>
            <a:prstDash val="solid"/>
          </a:ln>
        </p:spPr>
      </p:sp>
      <p:sp>
        <p:nvSpPr>
          <p:cNvPr id="9" name="Text 7"/>
          <p:cNvSpPr txBox="1"/>
          <p:nvPr/>
        </p:nvSpPr>
        <p:spPr>
          <a:xfrm>
            <a:off x="731520" y="3493008"/>
            <a:ext cx="4663440" cy="868680"/>
          </a:xfrm>
          <a:prstGeom prst="rect">
            <a:avLst/>
          </a:prstGeom>
          <a:noFill/>
          <a:ln/>
        </p:spPr>
        <p:txBody>
          <a:bodyPr wrap="square" lIns="0" tIns="0" rIns="0" bIns="0" rtlCol="0" anchor="ctr"/>
          <a:lstStyle/>
          <a:p>
            <a:pPr indent="0" marL="0">
              <a:lnSpc>
                <a:spcPts val="1700"/>
              </a:lnSpc>
              <a:buNone/>
            </a:pPr>
            <a:r>
              <a:rPr lang="en-US" sz="1250" b="1" dirty="0">
                <a:solidFill>
                  <a:srgbClr val="9B2019"/>
                </a:solidFill>
                <a:latin typeface="Calibri" pitchFamily="34" charset="0"/>
                <a:ea typeface="Calibri" pitchFamily="34" charset="-122"/>
                <a:cs typeface="Calibri" pitchFamily="34" charset="-120"/>
              </a:rPr>
              <a:t>Both totals are correct — so the property stayed green through every one of these.</a:t>
            </a:r>
            <a:endParaRPr lang="en-US" sz="1250" dirty="0"/>
          </a:p>
        </p:txBody>
      </p:sp>
      <p:sp>
        <p:nvSpPr>
          <p:cNvPr id="10" name="Shape 8"/>
          <p:cNvSpPr/>
          <p:nvPr/>
        </p:nvSpPr>
        <p:spPr>
          <a:xfrm>
            <a:off x="5806440" y="2880360"/>
            <a:ext cx="2834640" cy="1481328"/>
          </a:xfrm>
          <a:prstGeom prst="roundRect">
            <a:avLst>
              <a:gd name="adj" fmla="val 3704"/>
            </a:avLst>
          </a:prstGeom>
          <a:solidFill>
            <a:srgbClr val="F1F3F6"/>
          </a:solidFill>
          <a:ln w="12700">
            <a:solidFill>
              <a:srgbClr val="F1F3F6"/>
            </a:solidFill>
            <a:prstDash val="solid"/>
          </a:ln>
        </p:spPr>
      </p:sp>
      <p:sp>
        <p:nvSpPr>
          <p:cNvPr id="11" name="Text 9"/>
          <p:cNvSpPr txBox="1"/>
          <p:nvPr/>
        </p:nvSpPr>
        <p:spPr>
          <a:xfrm>
            <a:off x="6035040" y="3017520"/>
            <a:ext cx="2377440" cy="228600"/>
          </a:xfrm>
          <a:prstGeom prst="rect">
            <a:avLst/>
          </a:prstGeom>
          <a:noFill/>
          <a:ln/>
        </p:spPr>
        <p:txBody>
          <a:bodyPr wrap="square" lIns="0" tIns="0" rIns="0" bIns="0" rtlCol="0" anchor="ctr"/>
          <a:lstStyle/>
          <a:p>
            <a:pPr indent="0" marL="0">
              <a:buNone/>
            </a:pPr>
            <a:r>
              <a:rPr lang="en-US" sz="1100" b="1" dirty="0">
                <a:solidFill>
                  <a:srgbClr val="152238"/>
                </a:solidFill>
                <a:latin typeface="Calibri" pitchFamily="34" charset="0"/>
                <a:ea typeface="Calibri" pitchFamily="34" charset="-122"/>
                <a:cs typeface="Calibri" pitchFamily="34" charset="-120"/>
              </a:rPr>
              <a:t>Why it matters here</a:t>
            </a:r>
            <a:endParaRPr lang="en-US" sz="1100" dirty="0"/>
          </a:p>
        </p:txBody>
      </p:sp>
      <p:sp>
        <p:nvSpPr>
          <p:cNvPr id="12" name="Text 10"/>
          <p:cNvSpPr txBox="1"/>
          <p:nvPr/>
        </p:nvSpPr>
        <p:spPr>
          <a:xfrm>
            <a:off x="6035040" y="3273552"/>
            <a:ext cx="2377440" cy="1005840"/>
          </a:xfrm>
          <a:prstGeom prst="rect">
            <a:avLst/>
          </a:prstGeom>
          <a:noFill/>
          <a:ln/>
        </p:spPr>
        <p:txBody>
          <a:bodyPr wrap="square" lIns="0" tIns="0" rIns="0" bIns="0" rtlCol="0" anchor="ctr"/>
          <a:lstStyle/>
          <a:p>
            <a:pPr indent="0" marL="0">
              <a:lnSpc>
                <a:spcPts val="1400"/>
              </a:lnSpc>
              <a:buNone/>
            </a:pPr>
            <a:r>
              <a:rPr lang="en-US" sz="1050" dirty="0">
                <a:solidFill>
                  <a:srgbClr val="5A6470"/>
                </a:solidFill>
                <a:latin typeface="Calibri" pitchFamily="34" charset="0"/>
                <a:ea typeface="Calibri" pitchFamily="34" charset="-122"/>
                <a:cs typeface="Calibri" pitchFamily="34" charset="-120"/>
              </a:rPr>
              <a:t>Billing reads lines in database order. Reconciliation sorts by line ID. Two systems, same refund, different answer per line — while both report a perfect total.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02920" y="960120"/>
            <a:ext cx="8138160" cy="2011680"/>
          </a:xfrm>
          <a:prstGeom prst="rect">
            <a:avLst/>
          </a:prstGeom>
          <a:noFill/>
          <a:ln/>
        </p:spPr>
        <p:txBody>
          <a:bodyPr wrap="square" lIns="0" tIns="0" rIns="0" bIns="0" rtlCol="0" anchor="ctr"/>
          <a:lstStyle/>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Tests prove the invariant</a:t>
            </a:r>
            <a:endParaRPr lang="en-US" sz="3000" dirty="0"/>
          </a:p>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you thought to write down.</a:t>
            </a:r>
            <a:endParaRPr lang="en-US" sz="3000" dirty="0"/>
          </a:p>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Review finds the one you didn't.</a:t>
            </a:r>
            <a:endParaRPr lang="en-US" sz="3000" dirty="0"/>
          </a:p>
        </p:txBody>
      </p:sp>
      <p:sp>
        <p:nvSpPr>
          <p:cNvPr id="3" name="Text 1"/>
          <p:cNvSpPr txBox="1"/>
          <p:nvPr/>
        </p:nvSpPr>
        <p:spPr>
          <a:xfrm>
            <a:off x="502920" y="3200400"/>
            <a:ext cx="5212080" cy="914400"/>
          </a:xfrm>
          <a:prstGeom prst="rect">
            <a:avLst/>
          </a:prstGeom>
          <a:noFill/>
          <a:ln/>
        </p:spPr>
        <p:txBody>
          <a:bodyPr wrap="square" lIns="0" tIns="0" rIns="0" bIns="0" rtlCol="0" anchor="ctr"/>
          <a:lstStyle/>
          <a:p>
            <a:pPr indent="0" marL="0">
              <a:lnSpc>
                <a:spcPts val="1900"/>
              </a:lnSpc>
              <a:buNone/>
            </a:pPr>
            <a:r>
              <a:rPr lang="en-US" sz="1300" dirty="0">
                <a:solidFill>
                  <a:srgbClr val="B9C2D0"/>
                </a:solidFill>
                <a:latin typeface="Calibri" pitchFamily="34" charset="0"/>
                <a:ea typeface="Calibri" pitchFamily="34" charset="-122"/>
                <a:cs typeface="Calibri" pitchFamily="34" charset="-120"/>
              </a:rPr>
              <a:t>Once the question was asked, writing the property that catches it and the fix that satisfies it took about two minutes. The fix is three lines of logic: break ties on the line's own ID instead of its position in a list.</a:t>
            </a:r>
            <a:endParaRPr lang="en-US" sz="1300" dirty="0"/>
          </a:p>
        </p:txBody>
      </p:sp>
      <p:sp>
        <p:nvSpPr>
          <p:cNvPr id="4" name="Shape 2"/>
          <p:cNvSpPr/>
          <p:nvPr/>
        </p:nvSpPr>
        <p:spPr>
          <a:xfrm>
            <a:off x="5943600" y="3200400"/>
            <a:ext cx="2697480" cy="1024128"/>
          </a:xfrm>
          <a:prstGeom prst="roundRect">
            <a:avLst>
              <a:gd name="adj" fmla="val 5357"/>
            </a:avLst>
          </a:prstGeom>
          <a:solidFill>
            <a:srgbClr val="1E2E4A"/>
          </a:solidFill>
          <a:ln w="12700">
            <a:solidFill>
              <a:srgbClr val="1E2E4A"/>
            </a:solidFill>
            <a:prstDash val="solid"/>
          </a:ln>
        </p:spPr>
      </p:sp>
      <p:sp>
        <p:nvSpPr>
          <p:cNvPr id="5" name="Text 3"/>
          <p:cNvSpPr txBox="1"/>
          <p:nvPr/>
        </p:nvSpPr>
        <p:spPr>
          <a:xfrm>
            <a:off x="6089904" y="3310128"/>
            <a:ext cx="2404872" cy="512064"/>
          </a:xfrm>
          <a:prstGeom prst="rect">
            <a:avLst/>
          </a:prstGeom>
          <a:noFill/>
          <a:ln/>
        </p:spPr>
        <p:txBody>
          <a:bodyPr wrap="square" lIns="0" tIns="0" rIns="0" bIns="0" rtlCol="0" anchor="ctr"/>
          <a:lstStyle/>
          <a:p>
            <a:pPr indent="0" marL="0">
              <a:buNone/>
            </a:pPr>
            <a:r>
              <a:rPr lang="en-US" sz="2800" b="1" dirty="0">
                <a:solidFill>
                  <a:srgbClr val="9FD9B6"/>
                </a:solidFill>
                <a:latin typeface="Cambria" pitchFamily="34" charset="0"/>
                <a:ea typeface="Cambria" pitchFamily="34" charset="-122"/>
                <a:cs typeface="Cambria" pitchFamily="34" charset="-120"/>
              </a:rPr>
              <a:t>23</a:t>
            </a:r>
            <a:endParaRPr lang="en-US" sz="2800" dirty="0"/>
          </a:p>
        </p:txBody>
      </p:sp>
      <p:sp>
        <p:nvSpPr>
          <p:cNvPr id="6" name="Text 4"/>
          <p:cNvSpPr txBox="1"/>
          <p:nvPr/>
        </p:nvSpPr>
        <p:spPr>
          <a:xfrm>
            <a:off x="6089904" y="3803904"/>
            <a:ext cx="2404872" cy="329184"/>
          </a:xfrm>
          <a:prstGeom prst="rect">
            <a:avLst/>
          </a:prstGeom>
          <a:noFill/>
          <a:ln/>
        </p:spPr>
        <p:txBody>
          <a:bodyPr wrap="square" lIns="0" tIns="0" rIns="0" bIns="0" rtlCol="0" anchor="t"/>
          <a:lstStyle/>
          <a:p>
            <a:pPr indent="0" marL="0">
              <a:buNone/>
            </a:pPr>
            <a:r>
              <a:rPr lang="en-US" sz="1100" dirty="0">
                <a:solidFill>
                  <a:srgbClr val="8FA0B8"/>
                </a:solidFill>
                <a:latin typeface="Calibri" pitchFamily="34" charset="0"/>
                <a:ea typeface="Calibri" pitchFamily="34" charset="-122"/>
                <a:cs typeface="Calibri" pitchFamily="34" charset="-120"/>
              </a:rPr>
              <a:t>tests passing, both properties green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5A6470"/>
                </a:solidFill>
                <a:latin typeface="Calibri" pitchFamily="34" charset="0"/>
                <a:ea typeface="Calibri" pitchFamily="34" charset="-122"/>
                <a:cs typeface="Calibri" pitchFamily="34" charset="-120"/>
              </a:rPr>
              <a:t>BEFORE WE GO FURTHER</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Two things I'm not claiming</a:t>
            </a:r>
            <a:endParaRPr lang="en-US" sz="3000" dirty="0"/>
          </a:p>
        </p:txBody>
      </p:sp>
      <p:sp>
        <p:nvSpPr>
          <p:cNvPr id="4" name="Shape 2"/>
          <p:cNvSpPr/>
          <p:nvPr/>
        </p:nvSpPr>
        <p:spPr>
          <a:xfrm>
            <a:off x="502920" y="1280160"/>
            <a:ext cx="3931920" cy="2240280"/>
          </a:xfrm>
          <a:prstGeom prst="roundRect">
            <a:avLst>
              <a:gd name="adj" fmla="val 2449"/>
            </a:avLst>
          </a:prstGeom>
          <a:solidFill>
            <a:srgbClr val="F1F3F6"/>
          </a:solidFill>
          <a:ln w="12700">
            <a:solidFill>
              <a:srgbClr val="F1F3F6"/>
            </a:solidFill>
            <a:prstDash val="solid"/>
          </a:ln>
        </p:spPr>
      </p:sp>
      <p:sp>
        <p:nvSpPr>
          <p:cNvPr id="5" name="Text 3"/>
          <p:cNvSpPr txBox="1"/>
          <p:nvPr/>
        </p:nvSpPr>
        <p:spPr>
          <a:xfrm>
            <a:off x="758952" y="1463040"/>
            <a:ext cx="3383280" cy="274320"/>
          </a:xfrm>
          <a:prstGeom prst="rect">
            <a:avLst/>
          </a:prstGeom>
          <a:noFill/>
          <a:ln/>
        </p:spPr>
        <p:txBody>
          <a:bodyPr wrap="square" lIns="0" tIns="0" rIns="0" bIns="0" rtlCol="0" anchor="ctr"/>
          <a:lstStyle/>
          <a:p>
            <a:pPr indent="0" marL="0">
              <a:buNone/>
            </a:pPr>
            <a:r>
              <a:rPr lang="en-US" sz="1300" b="1" dirty="0">
                <a:solidFill>
                  <a:srgbClr val="9B2019"/>
                </a:solidFill>
                <a:latin typeface="Calibri" pitchFamily="34" charset="0"/>
                <a:ea typeface="Calibri" pitchFamily="34" charset="-122"/>
                <a:cs typeface="Calibri" pitchFamily="34" charset="-120"/>
              </a:rPr>
              <a:t>That review was human</a:t>
            </a:r>
            <a:endParaRPr lang="en-US" sz="1300" dirty="0"/>
          </a:p>
        </p:txBody>
      </p:sp>
      <p:sp>
        <p:nvSpPr>
          <p:cNvPr id="6" name="Text 4"/>
          <p:cNvSpPr txBox="1"/>
          <p:nvPr/>
        </p:nvSpPr>
        <p:spPr>
          <a:xfrm>
            <a:off x="758952" y="1828800"/>
            <a:ext cx="3383280" cy="1554480"/>
          </a:xfrm>
          <a:prstGeom prst="rect">
            <a:avLst/>
          </a:prstGeom>
          <a:noFill/>
          <a:ln/>
        </p:spPr>
        <p:txBody>
          <a:bodyPr wrap="square" lIns="0" tIns="0" rIns="0" bIns="0" rtlCol="0" anchor="ctr"/>
          <a:lstStyle/>
          <a:p>
            <a:pPr indent="0" marL="0">
              <a:lnSpc>
                <a:spcPts val="1800"/>
              </a:lnSpc>
              <a:buNone/>
            </a:pPr>
            <a:r>
              <a:rPr lang="en-US" sz="1200" dirty="0">
                <a:solidFill>
                  <a:srgbClr val="2A3340"/>
                </a:solidFill>
                <a:latin typeface="Calibri" pitchFamily="34" charset="0"/>
                <a:ea typeface="Calibri" pitchFamily="34" charset="-122"/>
                <a:cs typeface="Calibri" pitchFamily="34" charset="-120"/>
              </a:rPr>
              <a:t>The finding was produced by the same agent on a second pass, told to attack its own work. It's a real defect — you just saw it reproduce — but a model checking its own homework isn't a colleague checking it. The write-up says so at the top.</a:t>
            </a:r>
            <a:endParaRPr lang="en-US" sz="1200" dirty="0"/>
          </a:p>
        </p:txBody>
      </p:sp>
      <p:sp>
        <p:nvSpPr>
          <p:cNvPr id="7" name="Shape 5"/>
          <p:cNvSpPr/>
          <p:nvPr/>
        </p:nvSpPr>
        <p:spPr>
          <a:xfrm>
            <a:off x="4709160" y="1280160"/>
            <a:ext cx="3931920" cy="2240280"/>
          </a:xfrm>
          <a:prstGeom prst="roundRect">
            <a:avLst>
              <a:gd name="adj" fmla="val 2449"/>
            </a:avLst>
          </a:prstGeom>
          <a:solidFill>
            <a:srgbClr val="F1F3F6"/>
          </a:solidFill>
          <a:ln w="12700">
            <a:solidFill>
              <a:srgbClr val="F1F3F6"/>
            </a:solidFill>
            <a:prstDash val="solid"/>
          </a:ln>
        </p:spPr>
      </p:sp>
      <p:sp>
        <p:nvSpPr>
          <p:cNvPr id="8" name="Text 6"/>
          <p:cNvSpPr txBox="1"/>
          <p:nvPr/>
        </p:nvSpPr>
        <p:spPr>
          <a:xfrm>
            <a:off x="4965192" y="1463040"/>
            <a:ext cx="3383280" cy="274320"/>
          </a:xfrm>
          <a:prstGeom prst="rect">
            <a:avLst/>
          </a:prstGeom>
          <a:noFill/>
          <a:ln/>
        </p:spPr>
        <p:txBody>
          <a:bodyPr wrap="square" lIns="0" tIns="0" rIns="0" bIns="0" rtlCol="0" anchor="ctr"/>
          <a:lstStyle/>
          <a:p>
            <a:pPr indent="0" marL="0">
              <a:buNone/>
            </a:pPr>
            <a:r>
              <a:rPr lang="en-US" sz="1300" b="1" dirty="0">
                <a:solidFill>
                  <a:srgbClr val="9B2019"/>
                </a:solidFill>
                <a:latin typeface="Calibri" pitchFamily="34" charset="0"/>
                <a:ea typeface="Calibri" pitchFamily="34" charset="-122"/>
                <a:cs typeface="Calibri" pitchFamily="34" charset="-120"/>
              </a:rPr>
              <a:t>That this is a productivity number</a:t>
            </a:r>
            <a:endParaRPr lang="en-US" sz="1300" dirty="0"/>
          </a:p>
        </p:txBody>
      </p:sp>
      <p:sp>
        <p:nvSpPr>
          <p:cNvPr id="9" name="Text 7"/>
          <p:cNvSpPr txBox="1"/>
          <p:nvPr/>
        </p:nvSpPr>
        <p:spPr>
          <a:xfrm>
            <a:off x="4965192" y="1828800"/>
            <a:ext cx="3383280" cy="1554480"/>
          </a:xfrm>
          <a:prstGeom prst="rect">
            <a:avLst/>
          </a:prstGeom>
          <a:noFill/>
          <a:ln/>
        </p:spPr>
        <p:txBody>
          <a:bodyPr wrap="square" lIns="0" tIns="0" rIns="0" bIns="0" rtlCol="0" anchor="ctr"/>
          <a:lstStyle/>
          <a:p>
            <a:pPr indent="0" marL="0">
              <a:lnSpc>
                <a:spcPts val="1800"/>
              </a:lnSpc>
              <a:buNone/>
            </a:pPr>
            <a:r>
              <a:rPr lang="en-US" sz="1200" dirty="0">
                <a:solidFill>
                  <a:srgbClr val="2A3340"/>
                </a:solidFill>
                <a:latin typeface="Calibri" pitchFamily="34" charset="0"/>
                <a:ea typeface="Calibri" pitchFamily="34" charset="-122"/>
                <a:cs typeface="Calibri" pitchFamily="34" charset="-120"/>
              </a:rPr>
              <a:t>Three and a half minutes to a fix is one task, measured from commit timestamps. It covers the mechanical part only, it includes no human review time at all, and one task is an anecdote. Treat it as a shape, not a result.</a:t>
            </a:r>
            <a:endParaRPr lang="en-US" sz="1200" dirty="0"/>
          </a:p>
        </p:txBody>
      </p:sp>
      <p:sp>
        <p:nvSpPr>
          <p:cNvPr id="10" name="Text 8"/>
          <p:cNvSpPr txBox="1"/>
          <p:nvPr/>
        </p:nvSpPr>
        <p:spPr>
          <a:xfrm>
            <a:off x="502920" y="3749040"/>
            <a:ext cx="8138160" cy="502920"/>
          </a:xfrm>
          <a:prstGeom prst="rect">
            <a:avLst/>
          </a:prstGeom>
          <a:noFill/>
          <a:ln/>
        </p:spPr>
        <p:txBody>
          <a:bodyPr wrap="square" lIns="0" tIns="0" rIns="0" bIns="0" rtlCol="0" anchor="ctr"/>
          <a:lstStyle/>
          <a:p>
            <a:pPr indent="0" marL="0">
              <a:lnSpc>
                <a:spcPts val="1800"/>
              </a:lnSpc>
              <a:buNone/>
            </a:pPr>
            <a:r>
              <a:rPr lang="en-US" sz="1250" i="1" dirty="0">
                <a:solidFill>
                  <a:srgbClr val="5A6470"/>
                </a:solidFill>
                <a:latin typeface="Calibri" pitchFamily="34" charset="0"/>
                <a:ea typeface="Calibri" pitchFamily="34" charset="-122"/>
                <a:cs typeface="Calibri" pitchFamily="34" charset="-120"/>
              </a:rPr>
              <a:t>Everything in this talk is reproducible — the captured terminal output, the screenshots and the three commits all ship with it, including the failures.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17603A"/>
                </a:solidFill>
                <a:latin typeface="Calibri" pitchFamily="34" charset="0"/>
                <a:ea typeface="Calibri" pitchFamily="34" charset="-122"/>
                <a:cs typeface="Calibri" pitchFamily="34" charset="-120"/>
              </a:rPr>
              <a:t>ADOPTION</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What to try on Monday</a:t>
            </a:r>
            <a:endParaRPr lang="en-US" sz="3000" dirty="0"/>
          </a:p>
        </p:txBody>
      </p:sp>
      <p:sp>
        <p:nvSpPr>
          <p:cNvPr id="4" name="Shape 2"/>
          <p:cNvSpPr/>
          <p:nvPr/>
        </p:nvSpPr>
        <p:spPr>
          <a:xfrm>
            <a:off x="502920" y="1234440"/>
            <a:ext cx="8138160" cy="749808"/>
          </a:xfrm>
          <a:prstGeom prst="roundRect">
            <a:avLst>
              <a:gd name="adj" fmla="val 7317"/>
            </a:avLst>
          </a:prstGeom>
          <a:solidFill>
            <a:srgbClr val="E6F2EB"/>
          </a:solidFill>
          <a:ln w="12700">
            <a:solidFill>
              <a:srgbClr val="E6F2EB"/>
            </a:solidFill>
            <a:prstDash val="solid"/>
          </a:ln>
        </p:spPr>
      </p:sp>
      <p:sp>
        <p:nvSpPr>
          <p:cNvPr id="5" name="Text 3"/>
          <p:cNvSpPr txBox="1"/>
          <p:nvPr/>
        </p:nvSpPr>
        <p:spPr>
          <a:xfrm>
            <a:off x="758952" y="1234440"/>
            <a:ext cx="7635240" cy="749808"/>
          </a:xfrm>
          <a:prstGeom prst="rect">
            <a:avLst/>
          </a:prstGeom>
          <a:noFill/>
          <a:ln/>
        </p:spPr>
        <p:txBody>
          <a:bodyPr wrap="square" lIns="0" tIns="0" rIns="0" bIns="0" rtlCol="0" anchor="ctr"/>
          <a:lstStyle/>
          <a:p>
            <a:pPr indent="0" marL="0">
              <a:lnSpc>
                <a:spcPts val="1900"/>
              </a:lnSpc>
              <a:buNone/>
            </a:pPr>
            <a:r>
              <a:rPr lang="en-US" sz="1400" b="1" dirty="0">
                <a:solidFill>
                  <a:srgbClr val="17603A"/>
                </a:solidFill>
                <a:latin typeface="Calibri" pitchFamily="34" charset="0"/>
                <a:ea typeface="Calibri" pitchFamily="34" charset="-122"/>
                <a:cs typeface="Calibri" pitchFamily="34" charset="-120"/>
              </a:rPr>
              <a:t>One shape of task: a bug that already has a reproduction, in a single module, where “fixed” is something a test can assert.</a:t>
            </a:r>
            <a:endParaRPr lang="en-US" sz="1400" dirty="0"/>
          </a:p>
        </p:txBody>
      </p:sp>
      <p:sp>
        <p:nvSpPr>
          <p:cNvPr id="6" name="Shape 4"/>
          <p:cNvSpPr/>
          <p:nvPr/>
        </p:nvSpPr>
        <p:spPr>
          <a:xfrm>
            <a:off x="502920" y="2212848"/>
            <a:ext cx="310896" cy="310896"/>
          </a:xfrm>
          <a:prstGeom prst="ellipse">
            <a:avLst/>
          </a:prstGeom>
          <a:solidFill>
            <a:srgbClr val="17603A"/>
          </a:solidFill>
          <a:ln w="12700">
            <a:solidFill>
              <a:srgbClr val="17603A"/>
            </a:solidFill>
            <a:prstDash val="solid"/>
          </a:ln>
        </p:spPr>
      </p:sp>
      <p:sp>
        <p:nvSpPr>
          <p:cNvPr id="7" name="Text 5"/>
          <p:cNvSpPr txBox="1"/>
          <p:nvPr/>
        </p:nvSpPr>
        <p:spPr>
          <a:xfrm>
            <a:off x="502920" y="22128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960120" y="2176272"/>
            <a:ext cx="3840480" cy="274320"/>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Write the constraints down before you prompt</a:t>
            </a:r>
            <a:endParaRPr lang="en-US" sz="1250" dirty="0"/>
          </a:p>
        </p:txBody>
      </p:sp>
      <p:sp>
        <p:nvSpPr>
          <p:cNvPr id="9" name="Text 7"/>
          <p:cNvSpPr txBox="1"/>
          <p:nvPr/>
        </p:nvSpPr>
        <p:spPr>
          <a:xfrm>
            <a:off x="4892040" y="2176272"/>
            <a:ext cx="3749040" cy="457200"/>
          </a:xfrm>
          <a:prstGeom prst="rect">
            <a:avLst/>
          </a:prstGeom>
          <a:noFill/>
          <a:ln/>
        </p:spPr>
        <p:txBody>
          <a:bodyPr wrap="square" lIns="0" tIns="0" rIns="0" bIns="0" rtlCol="0" anchor="ctr"/>
          <a:lstStyle/>
          <a:p>
            <a:pPr indent="0" marL="0">
              <a:lnSpc>
                <a:spcPts val="1500"/>
              </a:lnSpc>
              <a:buNone/>
            </a:pPr>
            <a:r>
              <a:rPr lang="en-US" sz="1150" dirty="0">
                <a:solidFill>
                  <a:srgbClr val="5A6470"/>
                </a:solidFill>
                <a:latin typeface="Calibri" pitchFamily="34" charset="0"/>
                <a:ea typeface="Calibri" pitchFamily="34" charset="-122"/>
                <a:cs typeface="Calibri" pitchFamily="34" charset="-120"/>
              </a:rPr>
              <a:t>In the repo, not the chat box. It outlives the session and it gets reviewed.</a:t>
            </a:r>
            <a:endParaRPr lang="en-US" sz="1150" dirty="0"/>
          </a:p>
        </p:txBody>
      </p:sp>
      <p:sp>
        <p:nvSpPr>
          <p:cNvPr id="10" name="Shape 8"/>
          <p:cNvSpPr/>
          <p:nvPr/>
        </p:nvSpPr>
        <p:spPr>
          <a:xfrm>
            <a:off x="502920" y="2816352"/>
            <a:ext cx="310896" cy="310896"/>
          </a:xfrm>
          <a:prstGeom prst="ellipse">
            <a:avLst/>
          </a:prstGeom>
          <a:solidFill>
            <a:srgbClr val="17603A"/>
          </a:solidFill>
          <a:ln w="12700">
            <a:solidFill>
              <a:srgbClr val="17603A"/>
            </a:solidFill>
            <a:prstDash val="solid"/>
          </a:ln>
        </p:spPr>
      </p:sp>
      <p:sp>
        <p:nvSpPr>
          <p:cNvPr id="11" name="Text 9"/>
          <p:cNvSpPr txBox="1"/>
          <p:nvPr/>
        </p:nvSpPr>
        <p:spPr>
          <a:xfrm>
            <a:off x="502920" y="28163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960120" y="2779776"/>
            <a:ext cx="3840480" cy="274320"/>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Make it prove the bug first</a:t>
            </a:r>
            <a:endParaRPr lang="en-US" sz="1250" dirty="0"/>
          </a:p>
        </p:txBody>
      </p:sp>
      <p:sp>
        <p:nvSpPr>
          <p:cNvPr id="13" name="Text 11"/>
          <p:cNvSpPr txBox="1"/>
          <p:nvPr/>
        </p:nvSpPr>
        <p:spPr>
          <a:xfrm>
            <a:off x="4892040" y="2779776"/>
            <a:ext cx="3749040" cy="457200"/>
          </a:xfrm>
          <a:prstGeom prst="rect">
            <a:avLst/>
          </a:prstGeom>
          <a:noFill/>
          <a:ln/>
        </p:spPr>
        <p:txBody>
          <a:bodyPr wrap="square" lIns="0" tIns="0" rIns="0" bIns="0" rtlCol="0" anchor="ctr"/>
          <a:lstStyle/>
          <a:p>
            <a:pPr indent="0" marL="0">
              <a:lnSpc>
                <a:spcPts val="1500"/>
              </a:lnSpc>
              <a:buNone/>
            </a:pPr>
            <a:r>
              <a:rPr lang="en-US" sz="1150" dirty="0">
                <a:solidFill>
                  <a:srgbClr val="5A6470"/>
                </a:solidFill>
                <a:latin typeface="Calibri" pitchFamily="34" charset="0"/>
                <a:ea typeface="Calibri" pitchFamily="34" charset="-122"/>
                <a:cs typeface="Calibri" pitchFamily="34" charset="-120"/>
              </a:rPr>
              <a:t>A failing test, run and recorded, before any fix exists.</a:t>
            </a:r>
            <a:endParaRPr lang="en-US" sz="1150" dirty="0"/>
          </a:p>
        </p:txBody>
      </p:sp>
      <p:sp>
        <p:nvSpPr>
          <p:cNvPr id="14" name="Shape 12"/>
          <p:cNvSpPr/>
          <p:nvPr/>
        </p:nvSpPr>
        <p:spPr>
          <a:xfrm>
            <a:off x="502920" y="3419856"/>
            <a:ext cx="310896" cy="310896"/>
          </a:xfrm>
          <a:prstGeom prst="ellipse">
            <a:avLst/>
          </a:prstGeom>
          <a:solidFill>
            <a:srgbClr val="17603A"/>
          </a:solidFill>
          <a:ln w="12700">
            <a:solidFill>
              <a:srgbClr val="17603A"/>
            </a:solidFill>
            <a:prstDash val="solid"/>
          </a:ln>
        </p:spPr>
      </p:sp>
      <p:sp>
        <p:nvSpPr>
          <p:cNvPr id="15" name="Text 13"/>
          <p:cNvSpPr txBox="1"/>
          <p:nvPr/>
        </p:nvSpPr>
        <p:spPr>
          <a:xfrm>
            <a:off x="502920" y="34198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960120" y="3383280"/>
            <a:ext cx="3840480" cy="274320"/>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Review the diff for the invariant nobody wrote down</a:t>
            </a:r>
            <a:endParaRPr lang="en-US" sz="1250" dirty="0"/>
          </a:p>
        </p:txBody>
      </p:sp>
      <p:sp>
        <p:nvSpPr>
          <p:cNvPr id="17" name="Text 15"/>
          <p:cNvSpPr txBox="1"/>
          <p:nvPr/>
        </p:nvSpPr>
        <p:spPr>
          <a:xfrm>
            <a:off x="4892040" y="3383280"/>
            <a:ext cx="3749040" cy="457200"/>
          </a:xfrm>
          <a:prstGeom prst="rect">
            <a:avLst/>
          </a:prstGeom>
          <a:noFill/>
          <a:ln/>
        </p:spPr>
        <p:txBody>
          <a:bodyPr wrap="square" lIns="0" tIns="0" rIns="0" bIns="0" rtlCol="0" anchor="ctr"/>
          <a:lstStyle/>
          <a:p>
            <a:pPr indent="0" marL="0">
              <a:lnSpc>
                <a:spcPts val="1500"/>
              </a:lnSpc>
              <a:buNone/>
            </a:pPr>
            <a:r>
              <a:rPr lang="en-US" sz="1150" dirty="0">
                <a:solidFill>
                  <a:srgbClr val="5A6470"/>
                </a:solidFill>
                <a:latin typeface="Calibri" pitchFamily="34" charset="0"/>
                <a:ea typeface="Calibri" pitchFamily="34" charset="-122"/>
                <a:cs typeface="Calibri" pitchFamily="34" charset="-120"/>
              </a:rPr>
              <a:t>The suite covers what someone already thought of. Your job is the rest.</a:t>
            </a:r>
            <a:endParaRPr lang="en-US" sz="1150" dirty="0"/>
          </a:p>
        </p:txBody>
      </p:sp>
      <p:sp>
        <p:nvSpPr>
          <p:cNvPr id="18" name="Text 16"/>
          <p:cNvSpPr txBox="1"/>
          <p:nvPr/>
        </p:nvSpPr>
        <p:spPr>
          <a:xfrm>
            <a:off x="502920" y="4069080"/>
            <a:ext cx="8138160" cy="411480"/>
          </a:xfrm>
          <a:prstGeom prst="rect">
            <a:avLst/>
          </a:prstGeom>
          <a:noFill/>
          <a:ln/>
        </p:spPr>
        <p:txBody>
          <a:bodyPr wrap="square" lIns="0" tIns="0" rIns="0" bIns="0" rtlCol="0" anchor="ctr"/>
          <a:lstStyle/>
          <a:p>
            <a:pPr indent="0" marL="0">
              <a:buNone/>
            </a:pPr>
            <a:r>
              <a:rPr lang="en-US" sz="1200" i="1" dirty="0">
                <a:solidFill>
                  <a:srgbClr val="9B2019"/>
                </a:solidFill>
                <a:latin typeface="Calibri" pitchFamily="34" charset="0"/>
                <a:ea typeface="Calibri" pitchFamily="34" charset="-122"/>
                <a:cs typeface="Calibri" pitchFamily="34" charset="-120"/>
              </a:rPr>
              <a:t>Not for: open-ended refactors, anything touching a public contract, or anything where you can't say what “correct” means before you start.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5A6470"/>
                </a:solidFill>
                <a:latin typeface="Calibri" pitchFamily="34" charset="0"/>
                <a:ea typeface="Calibri" pitchFamily="34" charset="-122"/>
                <a:cs typeface="Calibri" pitchFamily="34" charset="-120"/>
              </a:rPr>
              <a:t>ADOPTION</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Who owns it, and when we look again</a:t>
            </a:r>
            <a:endParaRPr lang="en-US" sz="3000" dirty="0"/>
          </a:p>
        </p:txBody>
      </p:sp>
      <p:sp>
        <p:nvSpPr>
          <p:cNvPr id="4" name="Shape 2"/>
          <p:cNvSpPr/>
          <p:nvPr/>
        </p:nvSpPr>
        <p:spPr>
          <a:xfrm>
            <a:off x="502920" y="1271016"/>
            <a:ext cx="118872" cy="118872"/>
          </a:xfrm>
          <a:prstGeom prst="ellipse">
            <a:avLst/>
          </a:prstGeom>
          <a:solidFill>
            <a:srgbClr val="152238"/>
          </a:solidFill>
          <a:ln w="12700">
            <a:solidFill>
              <a:srgbClr val="152238"/>
            </a:solidFill>
            <a:prstDash val="solid"/>
          </a:ln>
        </p:spPr>
      </p:sp>
      <p:sp>
        <p:nvSpPr>
          <p:cNvPr id="5" name="Text 3"/>
          <p:cNvSpPr txBox="1"/>
          <p:nvPr/>
        </p:nvSpPr>
        <p:spPr>
          <a:xfrm>
            <a:off x="758952" y="1207008"/>
            <a:ext cx="2194560" cy="457200"/>
          </a:xfrm>
          <a:prstGeom prst="rect">
            <a:avLst/>
          </a:prstGeom>
          <a:noFill/>
          <a:ln/>
        </p:spPr>
        <p:txBody>
          <a:bodyPr wrap="square" lIns="0" tIns="0" rIns="0" bIns="0" rtlCol="0" anchor="ctr"/>
          <a:lstStyle/>
          <a:p>
            <a:pPr indent="0" marL="0">
              <a:lnSpc>
                <a:spcPts val="1500"/>
              </a:lnSpc>
              <a:buNone/>
            </a:pPr>
            <a:r>
              <a:rPr lang="en-US" sz="1200" b="1" dirty="0">
                <a:solidFill>
                  <a:srgbClr val="152238"/>
                </a:solidFill>
                <a:latin typeface="Calibri" pitchFamily="34" charset="0"/>
                <a:ea typeface="Calibri" pitchFamily="34" charset="-122"/>
                <a:cs typeface="Calibri" pitchFamily="34" charset="-120"/>
              </a:rPr>
              <a:t>Keeping the brief honest</a:t>
            </a:r>
            <a:endParaRPr lang="en-US" sz="1200" dirty="0"/>
          </a:p>
        </p:txBody>
      </p:sp>
      <p:sp>
        <p:nvSpPr>
          <p:cNvPr id="6" name="Text 4"/>
          <p:cNvSpPr txBox="1"/>
          <p:nvPr/>
        </p:nvSpPr>
        <p:spPr>
          <a:xfrm>
            <a:off x="3108960" y="1207008"/>
            <a:ext cx="2240280" cy="457200"/>
          </a:xfrm>
          <a:prstGeom prst="rect">
            <a:avLst/>
          </a:prstGeom>
          <a:noFill/>
          <a:ln/>
        </p:spPr>
        <p:txBody>
          <a:bodyPr wrap="square" lIns="0" tIns="0" rIns="0" bIns="0" rtlCol="0" anchor="ctr"/>
          <a:lstStyle/>
          <a:p>
            <a:pPr indent="0" marL="0">
              <a:lnSpc>
                <a:spcPts val="1500"/>
              </a:lnSpc>
              <a:buNone/>
            </a:pPr>
            <a:r>
              <a:rPr lang="en-US" sz="1150" dirty="0">
                <a:solidFill>
                  <a:srgbClr val="9B2019"/>
                </a:solidFill>
                <a:latin typeface="Calibri" pitchFamily="34" charset="0"/>
                <a:ea typeface="Calibri" pitchFamily="34" charset="-122"/>
                <a:cs typeface="Calibri" pitchFamily="34" charset="-120"/>
              </a:rPr>
              <a:t>repo maintainer</a:t>
            </a:r>
            <a:endParaRPr lang="en-US" sz="1150" dirty="0"/>
          </a:p>
        </p:txBody>
      </p:sp>
      <p:sp>
        <p:nvSpPr>
          <p:cNvPr id="7" name="Text 5"/>
          <p:cNvSpPr txBox="1"/>
          <p:nvPr/>
        </p:nvSpPr>
        <p:spPr>
          <a:xfrm>
            <a:off x="5486400" y="1207008"/>
            <a:ext cx="3154680" cy="457200"/>
          </a:xfrm>
          <a:prstGeom prst="rect">
            <a:avLst/>
          </a:prstGeom>
          <a:noFill/>
          <a:ln/>
        </p:spPr>
        <p:txBody>
          <a:bodyPr wrap="square" lIns="0" tIns="0" rIns="0" bIns="0" rtlCol="0" anchor="ctr"/>
          <a:lstStyle/>
          <a:p>
            <a:pPr indent="0" marL="0">
              <a:lnSpc>
                <a:spcPts val="1400"/>
              </a:lnSpc>
              <a:buNone/>
            </a:pPr>
            <a:r>
              <a:rPr lang="en-US" sz="1050" dirty="0">
                <a:solidFill>
                  <a:srgbClr val="5A6470"/>
                </a:solidFill>
                <a:latin typeface="Calibri" pitchFamily="34" charset="0"/>
                <a:ea typeface="Calibri" pitchFamily="34" charset="-122"/>
                <a:cs typeface="Calibri" pitchFamily="34" charset="-120"/>
              </a:rPr>
              <a:t>rejects changes that contradict CLAUDE.md; updates it when the rules genuinely change</a:t>
            </a:r>
            <a:endParaRPr lang="en-US" sz="1050" dirty="0"/>
          </a:p>
        </p:txBody>
      </p:sp>
      <p:sp>
        <p:nvSpPr>
          <p:cNvPr id="8" name="Shape 6"/>
          <p:cNvSpPr/>
          <p:nvPr/>
        </p:nvSpPr>
        <p:spPr>
          <a:xfrm>
            <a:off x="502920" y="1874520"/>
            <a:ext cx="118872" cy="118872"/>
          </a:xfrm>
          <a:prstGeom prst="ellipse">
            <a:avLst/>
          </a:prstGeom>
          <a:solidFill>
            <a:srgbClr val="152238"/>
          </a:solidFill>
          <a:ln w="12700">
            <a:solidFill>
              <a:srgbClr val="152238"/>
            </a:solidFill>
            <a:prstDash val="solid"/>
          </a:ln>
        </p:spPr>
      </p:sp>
      <p:sp>
        <p:nvSpPr>
          <p:cNvPr id="9" name="Text 7"/>
          <p:cNvSpPr txBox="1"/>
          <p:nvPr/>
        </p:nvSpPr>
        <p:spPr>
          <a:xfrm>
            <a:off x="758952" y="1810512"/>
            <a:ext cx="2194560" cy="457200"/>
          </a:xfrm>
          <a:prstGeom prst="rect">
            <a:avLst/>
          </a:prstGeom>
          <a:noFill/>
          <a:ln/>
        </p:spPr>
        <p:txBody>
          <a:bodyPr wrap="square" lIns="0" tIns="0" rIns="0" bIns="0" rtlCol="0" anchor="ctr"/>
          <a:lstStyle/>
          <a:p>
            <a:pPr indent="0" marL="0">
              <a:lnSpc>
                <a:spcPts val="1500"/>
              </a:lnSpc>
              <a:buNone/>
            </a:pPr>
            <a:r>
              <a:rPr lang="en-US" sz="1200" b="1" dirty="0">
                <a:solidFill>
                  <a:srgbClr val="152238"/>
                </a:solidFill>
                <a:latin typeface="Calibri" pitchFamily="34" charset="0"/>
                <a:ea typeface="Calibri" pitchFamily="34" charset="-122"/>
                <a:cs typeface="Calibri" pitchFamily="34" charset="-120"/>
              </a:rPr>
              <a:t>Reviewing agent diffs</a:t>
            </a:r>
            <a:endParaRPr lang="en-US" sz="1200" dirty="0"/>
          </a:p>
        </p:txBody>
      </p:sp>
      <p:sp>
        <p:nvSpPr>
          <p:cNvPr id="10" name="Text 8"/>
          <p:cNvSpPr txBox="1"/>
          <p:nvPr/>
        </p:nvSpPr>
        <p:spPr>
          <a:xfrm>
            <a:off x="3108960" y="1810512"/>
            <a:ext cx="2240280" cy="457200"/>
          </a:xfrm>
          <a:prstGeom prst="rect">
            <a:avLst/>
          </a:prstGeom>
          <a:noFill/>
          <a:ln/>
        </p:spPr>
        <p:txBody>
          <a:bodyPr wrap="square" lIns="0" tIns="0" rIns="0" bIns="0" rtlCol="0" anchor="ctr"/>
          <a:lstStyle/>
          <a:p>
            <a:pPr indent="0" marL="0">
              <a:lnSpc>
                <a:spcPts val="1500"/>
              </a:lnSpc>
              <a:buNone/>
            </a:pPr>
            <a:r>
              <a:rPr lang="en-US" sz="1150" dirty="0">
                <a:solidFill>
                  <a:srgbClr val="9B2019"/>
                </a:solidFill>
                <a:latin typeface="Calibri" pitchFamily="34" charset="0"/>
                <a:ea typeface="Calibri" pitchFamily="34" charset="-122"/>
                <a:cs typeface="Calibri" pitchFamily="34" charset="-120"/>
              </a:rPr>
              <a:t>the same people who review human diffs</a:t>
            </a:r>
            <a:endParaRPr lang="en-US" sz="1150" dirty="0"/>
          </a:p>
        </p:txBody>
      </p:sp>
      <p:sp>
        <p:nvSpPr>
          <p:cNvPr id="11" name="Text 9"/>
          <p:cNvSpPr txBox="1"/>
          <p:nvPr/>
        </p:nvSpPr>
        <p:spPr>
          <a:xfrm>
            <a:off x="5486400" y="1810512"/>
            <a:ext cx="3154680" cy="457200"/>
          </a:xfrm>
          <a:prstGeom prst="rect">
            <a:avLst/>
          </a:prstGeom>
          <a:noFill/>
          <a:ln/>
        </p:spPr>
        <p:txBody>
          <a:bodyPr wrap="square" lIns="0" tIns="0" rIns="0" bIns="0" rtlCol="0" anchor="ctr"/>
          <a:lstStyle/>
          <a:p>
            <a:pPr indent="0" marL="0">
              <a:lnSpc>
                <a:spcPts val="1400"/>
              </a:lnSpc>
              <a:buNone/>
            </a:pPr>
            <a:r>
              <a:rPr lang="en-US" sz="1050" dirty="0">
                <a:solidFill>
                  <a:srgbClr val="5A6470"/>
                </a:solidFill>
                <a:latin typeface="Calibri" pitchFamily="34" charset="0"/>
                <a:ea typeface="Calibri" pitchFamily="34" charset="-122"/>
                <a:cs typeface="Calibri" pitchFamily="34" charset="-120"/>
              </a:rPr>
              <a:t>no separate process, no lighter standard</a:t>
            </a:r>
            <a:endParaRPr lang="en-US" sz="1050" dirty="0"/>
          </a:p>
        </p:txBody>
      </p:sp>
      <p:sp>
        <p:nvSpPr>
          <p:cNvPr id="12" name="Shape 10"/>
          <p:cNvSpPr/>
          <p:nvPr/>
        </p:nvSpPr>
        <p:spPr>
          <a:xfrm>
            <a:off x="502920" y="2478024"/>
            <a:ext cx="118872" cy="118872"/>
          </a:xfrm>
          <a:prstGeom prst="ellipse">
            <a:avLst/>
          </a:prstGeom>
          <a:solidFill>
            <a:srgbClr val="152238"/>
          </a:solidFill>
          <a:ln w="12700">
            <a:solidFill>
              <a:srgbClr val="152238"/>
            </a:solidFill>
            <a:prstDash val="solid"/>
          </a:ln>
        </p:spPr>
      </p:sp>
      <p:sp>
        <p:nvSpPr>
          <p:cNvPr id="13" name="Text 11"/>
          <p:cNvSpPr txBox="1"/>
          <p:nvPr/>
        </p:nvSpPr>
        <p:spPr>
          <a:xfrm>
            <a:off x="758952" y="2414016"/>
            <a:ext cx="2194560" cy="457200"/>
          </a:xfrm>
          <a:prstGeom prst="rect">
            <a:avLst/>
          </a:prstGeom>
          <a:noFill/>
          <a:ln/>
        </p:spPr>
        <p:txBody>
          <a:bodyPr wrap="square" lIns="0" tIns="0" rIns="0" bIns="0" rtlCol="0" anchor="ctr"/>
          <a:lstStyle/>
          <a:p>
            <a:pPr indent="0" marL="0">
              <a:lnSpc>
                <a:spcPts val="1500"/>
              </a:lnSpc>
              <a:buNone/>
            </a:pPr>
            <a:r>
              <a:rPr lang="en-US" sz="1200" b="1" dirty="0">
                <a:solidFill>
                  <a:srgbClr val="152238"/>
                </a:solidFill>
                <a:latin typeface="Calibri" pitchFamily="34" charset="0"/>
                <a:ea typeface="Calibri" pitchFamily="34" charset="-122"/>
                <a:cs typeface="Calibri" pitchFamily="34" charset="-120"/>
              </a:rPr>
              <a:t>Collecting the numbers</a:t>
            </a:r>
            <a:endParaRPr lang="en-US" sz="1200" dirty="0"/>
          </a:p>
        </p:txBody>
      </p:sp>
      <p:sp>
        <p:nvSpPr>
          <p:cNvPr id="14" name="Text 12"/>
          <p:cNvSpPr txBox="1"/>
          <p:nvPr/>
        </p:nvSpPr>
        <p:spPr>
          <a:xfrm>
            <a:off x="3108960" y="2414016"/>
            <a:ext cx="2240280" cy="457200"/>
          </a:xfrm>
          <a:prstGeom prst="rect">
            <a:avLst/>
          </a:prstGeom>
          <a:noFill/>
          <a:ln/>
        </p:spPr>
        <p:txBody>
          <a:bodyPr wrap="square" lIns="0" tIns="0" rIns="0" bIns="0" rtlCol="0" anchor="ctr"/>
          <a:lstStyle/>
          <a:p>
            <a:pPr indent="0" marL="0">
              <a:lnSpc>
                <a:spcPts val="1500"/>
              </a:lnSpc>
              <a:buNone/>
            </a:pPr>
            <a:r>
              <a:rPr lang="en-US" sz="1150" dirty="0">
                <a:solidFill>
                  <a:srgbClr val="9B2019"/>
                </a:solidFill>
                <a:latin typeface="Calibri" pitchFamily="34" charset="0"/>
                <a:ea typeface="Calibri" pitchFamily="34" charset="-122"/>
                <a:cs typeface="Calibri" pitchFamily="34" charset="-120"/>
              </a:rPr>
              <a:t>one named person, ~30 min a month</a:t>
            </a:r>
            <a:endParaRPr lang="en-US" sz="1150" dirty="0"/>
          </a:p>
        </p:txBody>
      </p:sp>
      <p:sp>
        <p:nvSpPr>
          <p:cNvPr id="15" name="Text 13"/>
          <p:cNvSpPr txBox="1"/>
          <p:nvPr/>
        </p:nvSpPr>
        <p:spPr>
          <a:xfrm>
            <a:off x="5486400" y="2414016"/>
            <a:ext cx="3154680" cy="457200"/>
          </a:xfrm>
          <a:prstGeom prst="rect">
            <a:avLst/>
          </a:prstGeom>
          <a:noFill/>
          <a:ln/>
        </p:spPr>
        <p:txBody>
          <a:bodyPr wrap="square" lIns="0" tIns="0" rIns="0" bIns="0" rtlCol="0" anchor="ctr"/>
          <a:lstStyle/>
          <a:p>
            <a:pPr indent="0" marL="0">
              <a:lnSpc>
                <a:spcPts val="1400"/>
              </a:lnSpc>
              <a:buNone/>
            </a:pPr>
            <a:r>
              <a:rPr lang="en-US" sz="1050" dirty="0">
                <a:solidFill>
                  <a:srgbClr val="5A6470"/>
                </a:solidFill>
                <a:latin typeface="Calibri" pitchFamily="34" charset="0"/>
                <a:ea typeface="Calibri" pitchFamily="34" charset="-122"/>
                <a:cs typeface="Calibri" pitchFamily="34" charset="-120"/>
              </a:rPr>
              <a:t>publishes them unedited, including the bad ones</a:t>
            </a:r>
            <a:endParaRPr lang="en-US" sz="1050" dirty="0"/>
          </a:p>
        </p:txBody>
      </p:sp>
      <p:sp>
        <p:nvSpPr>
          <p:cNvPr id="16" name="Shape 14"/>
          <p:cNvSpPr/>
          <p:nvPr/>
        </p:nvSpPr>
        <p:spPr>
          <a:xfrm>
            <a:off x="502920" y="3081528"/>
            <a:ext cx="118872" cy="118872"/>
          </a:xfrm>
          <a:prstGeom prst="ellipse">
            <a:avLst/>
          </a:prstGeom>
          <a:solidFill>
            <a:srgbClr val="9B2019"/>
          </a:solidFill>
          <a:ln w="12700">
            <a:solidFill>
              <a:srgbClr val="9B2019"/>
            </a:solidFill>
            <a:prstDash val="solid"/>
          </a:ln>
        </p:spPr>
      </p:sp>
      <p:sp>
        <p:nvSpPr>
          <p:cNvPr id="17" name="Text 15"/>
          <p:cNvSpPr txBox="1"/>
          <p:nvPr/>
        </p:nvSpPr>
        <p:spPr>
          <a:xfrm>
            <a:off x="758952" y="3017520"/>
            <a:ext cx="2194560" cy="457200"/>
          </a:xfrm>
          <a:prstGeom prst="rect">
            <a:avLst/>
          </a:prstGeom>
          <a:noFill/>
          <a:ln/>
        </p:spPr>
        <p:txBody>
          <a:bodyPr wrap="square" lIns="0" tIns="0" rIns="0" bIns="0" rtlCol="0" anchor="ctr"/>
          <a:lstStyle/>
          <a:p>
            <a:pPr indent="0" marL="0">
              <a:lnSpc>
                <a:spcPts val="1500"/>
              </a:lnSpc>
              <a:buNone/>
            </a:pPr>
            <a:r>
              <a:rPr lang="en-US" sz="1200" b="1" dirty="0">
                <a:solidFill>
                  <a:srgbClr val="152238"/>
                </a:solidFill>
                <a:latin typeface="Calibri" pitchFamily="34" charset="0"/>
                <a:ea typeface="Calibri" pitchFamily="34" charset="-122"/>
                <a:cs typeface="Calibri" pitchFamily="34" charset="-120"/>
              </a:rPr>
              <a:t>Calling it off</a:t>
            </a:r>
            <a:endParaRPr lang="en-US" sz="1200" dirty="0"/>
          </a:p>
        </p:txBody>
      </p:sp>
      <p:sp>
        <p:nvSpPr>
          <p:cNvPr id="18" name="Text 16"/>
          <p:cNvSpPr txBox="1"/>
          <p:nvPr/>
        </p:nvSpPr>
        <p:spPr>
          <a:xfrm>
            <a:off x="3108960" y="3017520"/>
            <a:ext cx="2240280" cy="457200"/>
          </a:xfrm>
          <a:prstGeom prst="rect">
            <a:avLst/>
          </a:prstGeom>
          <a:noFill/>
          <a:ln/>
        </p:spPr>
        <p:txBody>
          <a:bodyPr wrap="square" lIns="0" tIns="0" rIns="0" bIns="0" rtlCol="0" anchor="ctr"/>
          <a:lstStyle/>
          <a:p>
            <a:pPr indent="0" marL="0">
              <a:lnSpc>
                <a:spcPts val="1500"/>
              </a:lnSpc>
              <a:buNone/>
            </a:pPr>
            <a:r>
              <a:rPr lang="en-US" sz="1150" dirty="0">
                <a:solidFill>
                  <a:srgbClr val="9B2019"/>
                </a:solidFill>
                <a:latin typeface="Calibri" pitchFamily="34" charset="0"/>
                <a:ea typeface="Calibri" pitchFamily="34" charset="-122"/>
                <a:cs typeface="Calibri" pitchFamily="34" charset="-120"/>
              </a:rPr>
              <a:t>engineering lead</a:t>
            </a:r>
            <a:endParaRPr lang="en-US" sz="1150" dirty="0"/>
          </a:p>
        </p:txBody>
      </p:sp>
      <p:sp>
        <p:nvSpPr>
          <p:cNvPr id="19" name="Text 17"/>
          <p:cNvSpPr txBox="1"/>
          <p:nvPr/>
        </p:nvSpPr>
        <p:spPr>
          <a:xfrm>
            <a:off x="5486400" y="3017520"/>
            <a:ext cx="3154680" cy="457200"/>
          </a:xfrm>
          <a:prstGeom prst="rect">
            <a:avLst/>
          </a:prstGeom>
          <a:noFill/>
          <a:ln/>
        </p:spPr>
        <p:txBody>
          <a:bodyPr wrap="square" lIns="0" tIns="0" rIns="0" bIns="0" rtlCol="0" anchor="ctr"/>
          <a:lstStyle/>
          <a:p>
            <a:pPr indent="0" marL="0">
              <a:lnSpc>
                <a:spcPts val="1400"/>
              </a:lnSpc>
              <a:buNone/>
            </a:pPr>
            <a:r>
              <a:rPr lang="en-US" sz="1050" dirty="0">
                <a:solidFill>
                  <a:srgbClr val="5A6470"/>
                </a:solidFill>
                <a:latin typeface="Calibri" pitchFamily="34" charset="0"/>
                <a:ea typeface="Calibri" pitchFamily="34" charset="-122"/>
                <a:cs typeface="Calibri" pitchFamily="34" charset="-120"/>
              </a:rPr>
              <a:t>owns the stop decision against the criteria on the next slide</a:t>
            </a:r>
            <a:endParaRPr lang="en-US" sz="1050" dirty="0"/>
          </a:p>
        </p:txBody>
      </p:sp>
      <p:sp>
        <p:nvSpPr>
          <p:cNvPr id="20" name="Shape 18"/>
          <p:cNvSpPr/>
          <p:nvPr/>
        </p:nvSpPr>
        <p:spPr>
          <a:xfrm>
            <a:off x="502920" y="3703320"/>
            <a:ext cx="8138160" cy="713232"/>
          </a:xfrm>
          <a:prstGeom prst="roundRect">
            <a:avLst>
              <a:gd name="adj" fmla="val 7692"/>
            </a:avLst>
          </a:prstGeom>
          <a:solidFill>
            <a:srgbClr val="F1F3F6"/>
          </a:solidFill>
          <a:ln w="12700">
            <a:solidFill>
              <a:srgbClr val="F1F3F6"/>
            </a:solidFill>
            <a:prstDash val="solid"/>
          </a:ln>
        </p:spPr>
      </p:sp>
      <p:sp>
        <p:nvSpPr>
          <p:cNvPr id="21" name="Text 19"/>
          <p:cNvSpPr txBox="1"/>
          <p:nvPr/>
        </p:nvSpPr>
        <p:spPr>
          <a:xfrm>
            <a:off x="758952" y="3703320"/>
            <a:ext cx="2606040" cy="713232"/>
          </a:xfrm>
          <a:prstGeom prst="rect">
            <a:avLst/>
          </a:prstGeom>
          <a:noFill/>
          <a:ln/>
        </p:spPr>
        <p:txBody>
          <a:bodyPr wrap="square" lIns="0" tIns="0" rIns="0" bIns="0" rtlCol="0" anchor="ctr"/>
          <a:lstStyle/>
          <a:p>
            <a:pPr indent="0" marL="0">
              <a:lnSpc>
                <a:spcPts val="1500"/>
              </a:lnSpc>
              <a:buNone/>
            </a:pPr>
            <a:r>
              <a:rPr lang="en-US" sz="1100" dirty="0">
                <a:solidFill>
                  <a:srgbClr val="152238"/>
                </a:solidFill>
                <a:latin typeface="Calibri" pitchFamily="34" charset="0"/>
                <a:ea typeface="Calibri" pitchFamily="34" charset="-122"/>
                <a:cs typeface="Calibri" pitchFamily="34" charset="-120"/>
              </a:rPr>
              <a:t>D+7  open office hour — bring your diff, working or not</a:t>
            </a:r>
            <a:endParaRPr lang="en-US" sz="1100" dirty="0"/>
          </a:p>
        </p:txBody>
      </p:sp>
      <p:sp>
        <p:nvSpPr>
          <p:cNvPr id="22" name="Text 20"/>
          <p:cNvSpPr txBox="1"/>
          <p:nvPr/>
        </p:nvSpPr>
        <p:spPr>
          <a:xfrm>
            <a:off x="3502152" y="3703320"/>
            <a:ext cx="2606040" cy="713232"/>
          </a:xfrm>
          <a:prstGeom prst="rect">
            <a:avLst/>
          </a:prstGeom>
          <a:noFill/>
          <a:ln/>
        </p:spPr>
        <p:txBody>
          <a:bodyPr wrap="square" lIns="0" tIns="0" rIns="0" bIns="0" rtlCol="0" anchor="ctr"/>
          <a:lstStyle/>
          <a:p>
            <a:pPr indent="0" marL="0">
              <a:lnSpc>
                <a:spcPts val="1500"/>
              </a:lnSpc>
              <a:buNone/>
            </a:pPr>
            <a:r>
              <a:rPr lang="en-US" sz="1100" dirty="0">
                <a:solidFill>
                  <a:srgbClr val="152238"/>
                </a:solidFill>
                <a:latin typeface="Calibri" pitchFamily="34" charset="0"/>
                <a:ea typeface="Calibri" pitchFamily="34" charset="-122"/>
                <a:cs typeface="Calibri" pitchFamily="34" charset="-120"/>
              </a:rPr>
              <a:t>D+30  read the first ten together</a:t>
            </a:r>
            <a:endParaRPr lang="en-US" sz="1100" dirty="0"/>
          </a:p>
        </p:txBody>
      </p:sp>
      <p:sp>
        <p:nvSpPr>
          <p:cNvPr id="23" name="Text 21"/>
          <p:cNvSpPr txBox="1"/>
          <p:nvPr/>
        </p:nvSpPr>
        <p:spPr>
          <a:xfrm>
            <a:off x="6245352" y="3703320"/>
            <a:ext cx="2606040" cy="713232"/>
          </a:xfrm>
          <a:prstGeom prst="rect">
            <a:avLst/>
          </a:prstGeom>
          <a:noFill/>
          <a:ln/>
        </p:spPr>
        <p:txBody>
          <a:bodyPr wrap="square" lIns="0" tIns="0" rIns="0" bIns="0" rtlCol="0" anchor="ctr"/>
          <a:lstStyle/>
          <a:p>
            <a:pPr indent="0" marL="0">
              <a:lnSpc>
                <a:spcPts val="1500"/>
              </a:lnSpc>
              <a:buNone/>
            </a:pPr>
            <a:r>
              <a:rPr lang="en-US" sz="1100" b="1" dirty="0">
                <a:solidFill>
                  <a:srgbClr val="9B2019"/>
                </a:solidFill>
                <a:latin typeface="Calibri" pitchFamily="34" charset="0"/>
                <a:ea typeface="Calibri" pitchFamily="34" charset="-122"/>
                <a:cs typeface="Calibri" pitchFamily="34" charset="-120"/>
              </a:rPr>
              <a:t>D+90  widen, hold, or stop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146304"/>
            <a:ext cx="8138160" cy="237744"/>
          </a:xfrm>
          <a:prstGeom prst="rect">
            <a:avLst/>
          </a:prstGeom>
          <a:noFill/>
          <a:ln/>
        </p:spPr>
        <p:txBody>
          <a:bodyPr wrap="square" lIns="0" tIns="0" rIns="0" bIns="0" rtlCol="0" anchor="ctr"/>
          <a:lstStyle/>
          <a:p>
            <a:pPr indent="0" marL="0">
              <a:buNone/>
            </a:pPr>
            <a:r>
              <a:rPr lang="en-US" sz="1050" b="1" spc="160" kern="0" dirty="0">
                <a:solidFill>
                  <a:srgbClr val="5A6470"/>
                </a:solidFill>
                <a:latin typeface="Calibri" pitchFamily="34" charset="0"/>
                <a:ea typeface="Calibri" pitchFamily="34" charset="-122"/>
                <a:cs typeface="Calibri" pitchFamily="34" charset="-120"/>
              </a:rPr>
              <a:t>ADOPTION</a:t>
            </a:r>
            <a:endParaRPr lang="en-US" sz="1050" dirty="0"/>
          </a:p>
        </p:txBody>
      </p:sp>
      <p:sp>
        <p:nvSpPr>
          <p:cNvPr id="3" name="Text 1"/>
          <p:cNvSpPr txBox="1"/>
          <p:nvPr/>
        </p:nvSpPr>
        <p:spPr>
          <a:xfrm>
            <a:off x="502920" y="384048"/>
            <a:ext cx="8138160" cy="685800"/>
          </a:xfrm>
          <a:prstGeom prst="rect">
            <a:avLst/>
          </a:prstGeom>
          <a:noFill/>
          <a:ln/>
        </p:spPr>
        <p:txBody>
          <a:bodyPr wrap="square" lIns="0" tIns="0" rIns="0" bIns="0" rtlCol="0" anchor="ctr"/>
          <a:lstStyle/>
          <a:p>
            <a:pPr algn="l" indent="0" marL="0">
              <a:buNone/>
            </a:pPr>
            <a:r>
              <a:rPr lang="en-US" sz="3000" b="1" dirty="0">
                <a:solidFill>
                  <a:srgbClr val="152238"/>
                </a:solidFill>
                <a:latin typeface="Cambria" pitchFamily="34" charset="0"/>
                <a:ea typeface="Cambria" pitchFamily="34" charset="-122"/>
                <a:cs typeface="Cambria" pitchFamily="34" charset="-120"/>
              </a:rPr>
              <a:t>Measured, and not yet measured</a:t>
            </a:r>
            <a:endParaRPr lang="en-US" sz="3000" dirty="0"/>
          </a:p>
        </p:txBody>
      </p:sp>
      <p:sp>
        <p:nvSpPr>
          <p:cNvPr id="4" name="Shape 2"/>
          <p:cNvSpPr/>
          <p:nvPr/>
        </p:nvSpPr>
        <p:spPr>
          <a:xfrm>
            <a:off x="502920" y="1234440"/>
            <a:ext cx="3931920" cy="2697480"/>
          </a:xfrm>
          <a:prstGeom prst="roundRect">
            <a:avLst>
              <a:gd name="adj" fmla="val 2034"/>
            </a:avLst>
          </a:prstGeom>
          <a:solidFill>
            <a:srgbClr val="F1F3F6"/>
          </a:solidFill>
          <a:ln w="12700">
            <a:solidFill>
              <a:srgbClr val="F1F3F6"/>
            </a:solidFill>
            <a:prstDash val="solid"/>
          </a:ln>
        </p:spPr>
      </p:sp>
      <p:sp>
        <p:nvSpPr>
          <p:cNvPr id="5" name="Text 3"/>
          <p:cNvSpPr txBox="1"/>
          <p:nvPr/>
        </p:nvSpPr>
        <p:spPr>
          <a:xfrm>
            <a:off x="758952" y="1371600"/>
            <a:ext cx="3383280" cy="256032"/>
          </a:xfrm>
          <a:prstGeom prst="rect">
            <a:avLst/>
          </a:prstGeom>
          <a:noFill/>
          <a:ln/>
        </p:spPr>
        <p:txBody>
          <a:bodyPr wrap="square" lIns="0" tIns="0" rIns="0" bIns="0" rtlCol="0" anchor="ctr"/>
          <a:lstStyle/>
          <a:p>
            <a:pPr indent="0" marL="0">
              <a:buNone/>
            </a:pPr>
            <a:r>
              <a:rPr lang="en-US" sz="1250" b="1" dirty="0">
                <a:solidFill>
                  <a:srgbClr val="152238"/>
                </a:solidFill>
                <a:latin typeface="Calibri" pitchFamily="34" charset="0"/>
                <a:ea typeface="Calibri" pitchFamily="34" charset="-122"/>
                <a:cs typeface="Calibri" pitchFamily="34" charset="-120"/>
              </a:rPr>
              <a:t>Observed — this one task</a:t>
            </a:r>
            <a:endParaRPr lang="en-US" sz="1250" dirty="0"/>
          </a:p>
        </p:txBody>
      </p:sp>
      <p:sp>
        <p:nvSpPr>
          <p:cNvPr id="6" name="Text 4"/>
          <p:cNvSpPr txBox="1"/>
          <p:nvPr/>
        </p:nvSpPr>
        <p:spPr>
          <a:xfrm>
            <a:off x="758952" y="1627632"/>
            <a:ext cx="3383280" cy="228600"/>
          </a:xfrm>
          <a:prstGeom prst="rect">
            <a:avLst/>
          </a:prstGeom>
          <a:noFill/>
          <a:ln/>
        </p:spPr>
        <p:txBody>
          <a:bodyPr wrap="square" lIns="0" tIns="0" rIns="0" bIns="0" rtlCol="0" anchor="ctr"/>
          <a:lstStyle/>
          <a:p>
            <a:pPr indent="0" marL="0">
              <a:buNone/>
            </a:pPr>
            <a:r>
              <a:rPr lang="en-US" sz="1050" i="1" dirty="0">
                <a:solidFill>
                  <a:srgbClr val="5A6470"/>
                </a:solidFill>
                <a:latin typeface="Calibri" pitchFamily="34" charset="0"/>
                <a:ea typeface="Calibri" pitchFamily="34" charset="-122"/>
                <a:cs typeface="Calibri" pitchFamily="34" charset="-120"/>
              </a:rPr>
              <a:t>N = 1. An anecdote with evidence attached.</a:t>
            </a:r>
            <a:endParaRPr lang="en-US" sz="1050" dirty="0"/>
          </a:p>
        </p:txBody>
      </p:sp>
      <p:sp>
        <p:nvSpPr>
          <p:cNvPr id="7" name="Text 5"/>
          <p:cNvSpPr txBox="1"/>
          <p:nvPr/>
        </p:nvSpPr>
        <p:spPr>
          <a:xfrm>
            <a:off x="758952" y="1965960"/>
            <a:ext cx="3429000" cy="19202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2A3340"/>
                </a:solidFill>
                <a:latin typeface="Calibri" pitchFamily="34" charset="0"/>
                <a:ea typeface="Calibri" pitchFamily="34" charset="-122"/>
                <a:cs typeface="Calibri" pitchFamily="34" charset="-120"/>
              </a:rPr>
              <a:t>3 min 24 s to a working fix</a:t>
            </a:r>
            <a:endParaRPr lang="en-US" sz="1150" dirty="0"/>
          </a:p>
          <a:p>
            <a:pPr marL="342900" indent="-342900">
              <a:lnSpc>
                <a:spcPts val="1500"/>
              </a:lnSpc>
              <a:spcAft>
                <a:spcPts val="700"/>
              </a:spcAft>
              <a:buSzPct val="100000"/>
              <a:buChar char="•"/>
            </a:pPr>
            <a:r>
              <a:rPr lang="en-US" sz="1150" dirty="0">
                <a:solidFill>
                  <a:srgbClr val="2A3340"/>
                </a:solidFill>
                <a:latin typeface="Calibri" pitchFamily="34" charset="0"/>
                <a:ea typeface="Calibri" pitchFamily="34" charset="-122"/>
                <a:cs typeface="Calibri" pitchFamily="34" charset="-120"/>
              </a:rPr>
              <a:t>14 → 23 tests; both new tests failed first</a:t>
            </a:r>
            <a:endParaRPr lang="en-US" sz="1150" dirty="0"/>
          </a:p>
          <a:p>
            <a:pPr marL="342900" indent="-342900">
              <a:lnSpc>
                <a:spcPts val="1500"/>
              </a:lnSpc>
              <a:spcAft>
                <a:spcPts val="700"/>
              </a:spcAft>
              <a:buSzPct val="100000"/>
              <a:buChar char="•"/>
            </a:pPr>
            <a:r>
              <a:rPr lang="en-US" sz="1150" dirty="0">
                <a:solidFill>
                  <a:srgbClr val="2A3340"/>
                </a:solidFill>
                <a:latin typeface="Calibri" pitchFamily="34" charset="0"/>
                <a:ea typeface="Calibri" pitchFamily="34" charset="-122"/>
                <a:cs typeface="Calibri" pitchFamily="34" charset="-120"/>
              </a:rPr>
              <a:t>Public API unchanged</a:t>
            </a:r>
            <a:endParaRPr lang="en-US" sz="1150" dirty="0"/>
          </a:p>
          <a:p>
            <a:pPr marL="342900" indent="-342900">
              <a:lnSpc>
                <a:spcPts val="1500"/>
              </a:lnSpc>
              <a:spcAft>
                <a:spcPts val="700"/>
              </a:spcAft>
              <a:buSzPct val="100000"/>
              <a:buChar char="•"/>
            </a:pPr>
            <a:r>
              <a:rPr lang="en-US" sz="1150" dirty="0">
                <a:solidFill>
                  <a:srgbClr val="2A3340"/>
                </a:solidFill>
                <a:latin typeface="Calibri" pitchFamily="34" charset="0"/>
                <a:ea typeface="Calibri" pitchFamily="34" charset="-122"/>
                <a:cs typeface="Calibri" pitchFamily="34" charset="-120"/>
              </a:rPr>
              <a:t>500 generated cases per property, 0 failures</a:t>
            </a:r>
            <a:endParaRPr lang="en-US" sz="1150" dirty="0"/>
          </a:p>
          <a:p>
            <a:pPr marL="342900" indent="-342900">
              <a:lnSpc>
                <a:spcPts val="1500"/>
              </a:lnSpc>
              <a:spcAft>
                <a:spcPts val="700"/>
              </a:spcAft>
              <a:buSzPct val="100000"/>
              <a:buChar char="•"/>
            </a:pPr>
            <a:r>
              <a:rPr lang="en-US" sz="1150" b="1" dirty="0">
                <a:solidFill>
                  <a:srgbClr val="2A3340"/>
                </a:solidFill>
                <a:latin typeface="Calibri" pitchFamily="34" charset="0"/>
                <a:ea typeface="Calibri" pitchFamily="34" charset="-122"/>
                <a:cs typeface="Calibri" pitchFamily="34" charset="-120"/>
              </a:rPr>
              <a:t>1 blocking review finding the tests could not see</a:t>
            </a:r>
            <a:endParaRPr lang="en-US" sz="1150" dirty="0"/>
          </a:p>
        </p:txBody>
      </p:sp>
      <p:sp>
        <p:nvSpPr>
          <p:cNvPr id="8" name="Shape 6"/>
          <p:cNvSpPr/>
          <p:nvPr/>
        </p:nvSpPr>
        <p:spPr>
          <a:xfrm>
            <a:off x="4709160" y="1234440"/>
            <a:ext cx="3931920" cy="2697480"/>
          </a:xfrm>
          <a:prstGeom prst="roundRect">
            <a:avLst>
              <a:gd name="adj" fmla="val 2034"/>
            </a:avLst>
          </a:prstGeom>
          <a:solidFill>
            <a:srgbClr val="FBEAE8"/>
          </a:solidFill>
          <a:ln w="12700">
            <a:solidFill>
              <a:srgbClr val="FBEAE8"/>
            </a:solidFill>
            <a:prstDash val="solid"/>
          </a:ln>
        </p:spPr>
      </p:sp>
      <p:sp>
        <p:nvSpPr>
          <p:cNvPr id="9" name="Text 7"/>
          <p:cNvSpPr txBox="1"/>
          <p:nvPr/>
        </p:nvSpPr>
        <p:spPr>
          <a:xfrm>
            <a:off x="4965192" y="1371600"/>
            <a:ext cx="3383280" cy="256032"/>
          </a:xfrm>
          <a:prstGeom prst="rect">
            <a:avLst/>
          </a:prstGeom>
          <a:noFill/>
          <a:ln/>
        </p:spPr>
        <p:txBody>
          <a:bodyPr wrap="square" lIns="0" tIns="0" rIns="0" bIns="0" rtlCol="0" anchor="ctr"/>
          <a:lstStyle/>
          <a:p>
            <a:pPr indent="0" marL="0">
              <a:buNone/>
            </a:pPr>
            <a:r>
              <a:rPr lang="en-US" sz="1250" b="1" dirty="0">
                <a:solidFill>
                  <a:srgbClr val="9B2019"/>
                </a:solidFill>
                <a:latin typeface="Calibri" pitchFamily="34" charset="0"/>
                <a:ea typeface="Calibri" pitchFamily="34" charset="-122"/>
                <a:cs typeface="Calibri" pitchFamily="34" charset="-120"/>
              </a:rPr>
              <a:t>Proposed — team level</a:t>
            </a:r>
            <a:endParaRPr lang="en-US" sz="1250" dirty="0"/>
          </a:p>
        </p:txBody>
      </p:sp>
      <p:sp>
        <p:nvSpPr>
          <p:cNvPr id="10" name="Text 8"/>
          <p:cNvSpPr txBox="1"/>
          <p:nvPr/>
        </p:nvSpPr>
        <p:spPr>
          <a:xfrm>
            <a:off x="4965192" y="1627632"/>
            <a:ext cx="3383280" cy="228600"/>
          </a:xfrm>
          <a:prstGeom prst="rect">
            <a:avLst/>
          </a:prstGeom>
          <a:noFill/>
          <a:ln/>
        </p:spPr>
        <p:txBody>
          <a:bodyPr wrap="square" lIns="0" tIns="0" rIns="0" bIns="0" rtlCol="0" anchor="ctr"/>
          <a:lstStyle/>
          <a:p>
            <a:pPr indent="0" marL="0">
              <a:buNone/>
            </a:pPr>
            <a:r>
              <a:rPr lang="en-US" sz="1050" i="1" dirty="0">
                <a:solidFill>
                  <a:srgbClr val="7A3A34"/>
                </a:solidFill>
                <a:latin typeface="Calibri" pitchFamily="34" charset="0"/>
                <a:ea typeface="Calibri" pitchFamily="34" charset="-122"/>
                <a:cs typeface="Calibri" pitchFamily="34" charset="-120"/>
              </a:rPr>
              <a:t>Not measured yet — each needs a baseline.</a:t>
            </a:r>
            <a:endParaRPr lang="en-US" sz="1050" dirty="0"/>
          </a:p>
        </p:txBody>
      </p:sp>
      <p:sp>
        <p:nvSpPr>
          <p:cNvPr id="11" name="Text 9"/>
          <p:cNvSpPr txBox="1"/>
          <p:nvPr/>
        </p:nvSpPr>
        <p:spPr>
          <a:xfrm>
            <a:off x="4965192" y="2029968"/>
            <a:ext cx="3429000" cy="18288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b="1" dirty="0">
                <a:solidFill>
                  <a:srgbClr val="3A2320"/>
                </a:solidFill>
                <a:latin typeface="Calibri" pitchFamily="34" charset="0"/>
                <a:ea typeface="Calibri" pitchFamily="34" charset="-122"/>
                <a:cs typeface="Calibri" pitchFamily="34" charset="-120"/>
              </a:rPr>
              <a:t>Escaped defects on agent diffs vs our current rate</a:t>
            </a:r>
            <a:endParaRPr lang="en-US" sz="1150" dirty="0"/>
          </a:p>
          <a:p>
            <a:pPr marL="342900" indent="-342900">
              <a:lnSpc>
                <a:spcPts val="1500"/>
              </a:lnSpc>
              <a:spcAft>
                <a:spcPts val="700"/>
              </a:spcAft>
              <a:buSzPct val="100000"/>
              <a:buChar char="•"/>
            </a:pPr>
            <a:r>
              <a:rPr lang="en-US" sz="1150" dirty="0">
                <a:solidFill>
                  <a:srgbClr val="3A2320"/>
                </a:solidFill>
                <a:latin typeface="Calibri" pitchFamily="34" charset="0"/>
                <a:ea typeface="Calibri" pitchFamily="34" charset="-122"/>
                <a:cs typeface="Calibri" pitchFamily="34" charset="-120"/>
              </a:rPr>
              <a:t>Review findings per PR — watched for drift upward</a:t>
            </a:r>
            <a:endParaRPr lang="en-US" sz="1150" dirty="0"/>
          </a:p>
          <a:p>
            <a:pPr marL="342900" indent="-342900">
              <a:lnSpc>
                <a:spcPts val="1500"/>
              </a:lnSpc>
              <a:spcAft>
                <a:spcPts val="700"/>
              </a:spcAft>
              <a:buSzPct val="100000"/>
              <a:buChar char="•"/>
            </a:pPr>
            <a:r>
              <a:rPr lang="en-US" sz="1150" dirty="0">
                <a:solidFill>
                  <a:srgbClr val="3A2320"/>
                </a:solidFill>
                <a:latin typeface="Calibri" pitchFamily="34" charset="0"/>
                <a:ea typeface="Calibri" pitchFamily="34" charset="-122"/>
                <a:cs typeface="Calibri" pitchFamily="34" charset="-120"/>
              </a:rPr>
              <a:t>Ticket → mergeable PR, for this task shape only</a:t>
            </a:r>
            <a:endParaRPr lang="en-US" sz="1150" dirty="0"/>
          </a:p>
          <a:p>
            <a:pPr marL="342900" indent="-342900">
              <a:lnSpc>
                <a:spcPts val="1500"/>
              </a:lnSpc>
              <a:spcAft>
                <a:spcPts val="700"/>
              </a:spcAft>
              <a:buSzPct val="100000"/>
              <a:buChar char="•"/>
            </a:pPr>
            <a:r>
              <a:rPr lang="en-US" sz="1150" dirty="0">
                <a:solidFill>
                  <a:srgbClr val="3A2320"/>
                </a:solidFill>
                <a:latin typeface="Calibri" pitchFamily="34" charset="0"/>
                <a:ea typeface="Calibri" pitchFamily="34" charset="-122"/>
                <a:cs typeface="Calibri" pitchFamily="34" charset="-120"/>
              </a:rPr>
              <a:t>Share of eligible tickets actually done this way</a:t>
            </a:r>
            <a:endParaRPr lang="en-US" sz="1150" dirty="0"/>
          </a:p>
        </p:txBody>
      </p:sp>
      <p:sp>
        <p:nvSpPr>
          <p:cNvPr id="12" name="Text 10"/>
          <p:cNvSpPr txBox="1"/>
          <p:nvPr/>
        </p:nvSpPr>
        <p:spPr>
          <a:xfrm>
            <a:off x="502920" y="4224528"/>
            <a:ext cx="8138160" cy="411480"/>
          </a:xfrm>
          <a:prstGeom prst="rect">
            <a:avLst/>
          </a:prstGeom>
          <a:noFill/>
          <a:ln/>
        </p:spPr>
        <p:txBody>
          <a:bodyPr wrap="square" lIns="0" tIns="0" rIns="0" bIns="0" rtlCol="0" anchor="ctr"/>
          <a:lstStyle/>
          <a:p>
            <a:pPr indent="0" marL="0">
              <a:buNone/>
            </a:pPr>
            <a:r>
              <a:rPr lang="en-US" sz="1200" b="1" dirty="0">
                <a:solidFill>
                  <a:srgbClr val="152238"/>
                </a:solidFill>
                <a:latin typeface="Calibri" pitchFamily="34" charset="0"/>
                <a:ea typeface="Calibri" pitchFamily="34" charset="-122"/>
                <a:cs typeface="Calibri" pitchFamily="34" charset="-120"/>
              </a:rPr>
              <a:t>Low adoption is a process problem you can fix. A rising escaped-defect rate is a stop signal — and the honest response to it is to stop, not to review harder.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502920" y="914400"/>
            <a:ext cx="8138160" cy="1188720"/>
          </a:xfrm>
          <a:prstGeom prst="rect">
            <a:avLst/>
          </a:prstGeom>
          <a:noFill/>
          <a:ln/>
        </p:spPr>
        <p:txBody>
          <a:bodyPr wrap="square" lIns="0" tIns="0" rIns="0" bIns="0" rtlCol="0" anchor="ctr"/>
          <a:lstStyle/>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The claim is narrower</a:t>
            </a:r>
            <a:endParaRPr lang="en-US" sz="3400" dirty="0"/>
          </a:p>
          <a:p>
            <a:pPr indent="0" marL="0">
              <a:lnSpc>
                <a:spcPts val="4000"/>
              </a:lnSpc>
              <a:buNone/>
            </a:pPr>
            <a:r>
              <a:rPr lang="en-US" sz="3400" b="1" dirty="0">
                <a:solidFill>
                  <a:srgbClr val="FFFFFF"/>
                </a:solidFill>
                <a:latin typeface="Cambria" pitchFamily="34" charset="0"/>
                <a:ea typeface="Cambria" pitchFamily="34" charset="-122"/>
                <a:cs typeface="Cambria" pitchFamily="34" charset="-120"/>
              </a:rPr>
              <a:t>than the hype</a:t>
            </a:r>
            <a:endParaRPr lang="en-US" sz="3400" dirty="0"/>
          </a:p>
        </p:txBody>
      </p:sp>
      <p:sp>
        <p:nvSpPr>
          <p:cNvPr id="3" name="Text 1"/>
          <p:cNvSpPr txBox="1"/>
          <p:nvPr/>
        </p:nvSpPr>
        <p:spPr>
          <a:xfrm>
            <a:off x="502920" y="2286000"/>
            <a:ext cx="6035040" cy="1097280"/>
          </a:xfrm>
          <a:prstGeom prst="rect">
            <a:avLst/>
          </a:prstGeom>
          <a:noFill/>
          <a:ln/>
        </p:spPr>
        <p:txBody>
          <a:bodyPr wrap="square" lIns="0" tIns="0" rIns="0" bIns="0" rtlCol="0" anchor="ctr"/>
          <a:lstStyle/>
          <a:p>
            <a:pPr indent="0" marL="0">
              <a:lnSpc>
                <a:spcPts val="2200"/>
              </a:lnSpc>
              <a:buNone/>
            </a:pPr>
            <a:r>
              <a:rPr lang="en-US" sz="1450" dirty="0">
                <a:solidFill>
                  <a:srgbClr val="CBD3DF"/>
                </a:solidFill>
                <a:latin typeface="Calibri" pitchFamily="34" charset="0"/>
                <a:ea typeface="Calibri" pitchFamily="34" charset="-122"/>
                <a:cs typeface="Calibri" pitchFamily="34" charset="-120"/>
              </a:rPr>
              <a:t>For a bounded task with a written definition of correct, you get a reviewable, tested change fast enough that review becomes the bottleneck. So the leverage is in what you write down beforehand, and what you look for afterwards.</a:t>
            </a:r>
            <a:endParaRPr lang="en-US" sz="1450" dirty="0"/>
          </a:p>
        </p:txBody>
      </p:sp>
      <p:sp>
        <p:nvSpPr>
          <p:cNvPr id="4" name="Text 2"/>
          <p:cNvSpPr txBox="1"/>
          <p:nvPr/>
        </p:nvSpPr>
        <p:spPr>
          <a:xfrm>
            <a:off x="502920" y="3749040"/>
            <a:ext cx="6035040" cy="548640"/>
          </a:xfrm>
          <a:prstGeom prst="rect">
            <a:avLst/>
          </a:prstGeom>
          <a:noFill/>
          <a:ln/>
        </p:spPr>
        <p:txBody>
          <a:bodyPr wrap="square" lIns="0" tIns="0" rIns="0" bIns="0" rtlCol="0" anchor="ctr"/>
          <a:lstStyle/>
          <a:p>
            <a:pPr indent="0" marL="0">
              <a:lnSpc>
                <a:spcPts val="1700"/>
              </a:lnSpc>
              <a:buNone/>
            </a:pPr>
            <a:r>
              <a:rPr lang="en-US" sz="1200" i="1" dirty="0">
                <a:solidFill>
                  <a:srgbClr val="7C8AA0"/>
                </a:solidFill>
                <a:latin typeface="Calibri" pitchFamily="34" charset="0"/>
                <a:ea typeface="Calibri" pitchFamily="34" charset="-122"/>
                <a:cs typeface="Calibri" pitchFamily="34" charset="-120"/>
              </a:rPr>
              <a:t>The repo, the three commits, the captured output and the screenshots all ship together — including the run where it was wrong.</a:t>
            </a:r>
            <a:endParaRPr lang="en-US" sz="1200" dirty="0"/>
          </a:p>
        </p:txBody>
      </p:sp>
      <p:sp>
        <p:nvSpPr>
          <p:cNvPr id="5" name="Shape 3"/>
          <p:cNvSpPr/>
          <p:nvPr/>
        </p:nvSpPr>
        <p:spPr>
          <a:xfrm>
            <a:off x="6720840" y="2286000"/>
            <a:ext cx="1920240" cy="1097280"/>
          </a:xfrm>
          <a:prstGeom prst="roundRect">
            <a:avLst>
              <a:gd name="adj" fmla="val 4167"/>
            </a:avLst>
          </a:prstGeom>
          <a:solidFill>
            <a:srgbClr val="10402A"/>
          </a:solidFill>
          <a:ln w="12700">
            <a:solidFill>
              <a:srgbClr val="10402A"/>
            </a:solidFill>
            <a:prstDash val="solid"/>
          </a:ln>
        </p:spPr>
      </p:sp>
      <p:sp>
        <p:nvSpPr>
          <p:cNvPr id="6" name="Text 4"/>
          <p:cNvSpPr txBox="1"/>
          <p:nvPr/>
        </p:nvSpPr>
        <p:spPr>
          <a:xfrm>
            <a:off x="6922008" y="2432304"/>
            <a:ext cx="1517904" cy="804672"/>
          </a:xfrm>
          <a:prstGeom prst="rect">
            <a:avLst/>
          </a:prstGeom>
          <a:noFill/>
          <a:ln/>
        </p:spPr>
        <p:txBody>
          <a:bodyPr wrap="square" lIns="0" tIns="0" rIns="0" bIns="0" rtlCol="0" anchor="t"/>
          <a:lstStyle/>
          <a:p>
            <a:pPr algn="ctr" indent="0" marL="0">
              <a:lnSpc>
                <a:spcPts val="1900"/>
              </a:lnSpc>
              <a:buNone/>
            </a:pPr>
            <a:r>
              <a:rPr lang="en-US" sz="1300" dirty="0">
                <a:solidFill>
                  <a:srgbClr val="9FD9B6"/>
                </a:solidFill>
                <a:latin typeface="Courier New" pitchFamily="34" charset="0"/>
                <a:ea typeface="Courier New" pitchFamily="34" charset="-122"/>
                <a:cs typeface="Courier New" pitchFamily="34" charset="-120"/>
              </a:rPr>
              <a:t>$100.00</a:t>
            </a:r>
            <a:endParaRPr lang="en-US" sz="1300" dirty="0"/>
          </a:p>
          <a:p>
            <a:pPr algn="ctr" indent="0" marL="0">
              <a:lnSpc>
                <a:spcPts val="1900"/>
              </a:lnSpc>
              <a:buNone/>
            </a:pPr>
            <a:r>
              <a:rPr lang="en-US" sz="1300" dirty="0">
                <a:solidFill>
                  <a:srgbClr val="9FD9B6"/>
                </a:solidFill>
                <a:latin typeface="Courier New" pitchFamily="34" charset="0"/>
                <a:ea typeface="Courier New" pitchFamily="34" charset="-122"/>
                <a:cs typeface="Courier New" pitchFamily="34" charset="-120"/>
              </a:rPr>
              <a:t>of</a:t>
            </a:r>
            <a:endParaRPr lang="en-US" sz="1300" dirty="0"/>
          </a:p>
          <a:p>
            <a:pPr algn="ctr" indent="0" marL="0">
              <a:lnSpc>
                <a:spcPts val="1900"/>
              </a:lnSpc>
              <a:buNone/>
            </a:pPr>
            <a:r>
              <a:rPr lang="en-US" sz="1300" dirty="0">
                <a:solidFill>
                  <a:srgbClr val="9FD9B6"/>
                </a:solidFill>
                <a:latin typeface="Courier New" pitchFamily="34" charset="0"/>
                <a:ea typeface="Courier New" pitchFamily="34" charset="-122"/>
                <a:cs typeface="Courier New" pitchFamily="34" charset="-120"/>
              </a:rPr>
              <a:t>$100.00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 minutes, one real task</dc:title>
  <dc:subject>PptxGenJS Presentation</dc:subject>
  <dc:creator>Vibhu Gupta</dc:creator>
  <cp:lastModifiedBy>Vibhu Gupta</cp:lastModifiedBy>
  <cp:revision>1</cp:revision>
  <dcterms:created xsi:type="dcterms:W3CDTF">2026-09-15T02:20:45Z</dcterms:created>
  <dcterms:modified xsi:type="dcterms:W3CDTF">2026-09-15T02:20:45Z</dcterms:modified>
</cp:coreProperties>
</file>